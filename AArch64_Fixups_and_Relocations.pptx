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1F4E79"/>
                </a:solidFill>
              </a:defRPr>
            </a:pPr>
            <a:r>
              <a:t>Fixups &amp; Relocations in the AArch64 Backend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Beginner-Friendly, Diagram-Based Guide</a:t>
            </a:r>
          </a:p>
          <a:p>
            <a:r>
              <a:t>LLVM AArch64 Backend  |  MCTargetDesc  |  ELF Object Files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Agenda</a:t>
            </a:r>
          </a:p>
          <a:p>
            <a:pPr>
              <a:defRPr sz="1600" i="1">
                <a:solidFill>
                  <a:srgbClr val="595959"/>
                </a:solidFill>
              </a:defRPr>
            </a:pPr>
            <a:r>
              <a:t>What we will cover in this session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12121"/>
                </a:solidFill>
              </a:defRPr>
            </a:pPr>
            <a:r>
              <a:t>●  1. What happens when code is compiled? (the big picture)</a:t>
            </a:r>
          </a:p>
          <a:p>
            <a:pPr>
              <a:spcAft>
                <a:spcPts val="800"/>
              </a:spcAft>
              <a:defRPr sz="2000" b="0">
                <a:solidFill>
                  <a:srgbClr val="212121"/>
                </a:solidFill>
              </a:defRPr>
            </a:pPr>
            <a:r>
              <a:t>●  2. The core problem - addresses unknown at compile time</a:t>
            </a:r>
          </a:p>
          <a:p>
            <a:pPr>
              <a:spcAft>
                <a:spcPts val="800"/>
              </a:spcAft>
              <a:defRPr sz="2000" b="0">
                <a:solidFill>
                  <a:srgbClr val="212121"/>
                </a:solidFill>
              </a:defRPr>
            </a:pPr>
            <a:r>
              <a:t>●  3. What is a Fixup?</a:t>
            </a:r>
          </a:p>
          <a:p>
            <a:pPr>
              <a:spcAft>
                <a:spcPts val="800"/>
              </a:spcAft>
              <a:defRPr sz="2000" b="0">
                <a:solidFill>
                  <a:srgbClr val="212121"/>
                </a:solidFill>
              </a:defRPr>
            </a:pPr>
            <a:r>
              <a:t>●  4. What is a Relocation Entry?</a:t>
            </a:r>
          </a:p>
          <a:p>
            <a:pPr>
              <a:spcAft>
                <a:spcPts val="800"/>
              </a:spcAft>
              <a:defRPr sz="2000" b="0">
                <a:solidFill>
                  <a:srgbClr val="212121"/>
                </a:solidFill>
              </a:defRPr>
            </a:pPr>
            <a:r>
              <a:t>●  5. How AArch64 fixups are created (step-by-step)</a:t>
            </a:r>
          </a:p>
          <a:p>
            <a:pPr>
              <a:spcAft>
                <a:spcPts val="800"/>
              </a:spcAft>
              <a:defRPr sz="2000" b="0">
                <a:solidFill>
                  <a:srgbClr val="212121"/>
                </a:solidFill>
              </a:defRPr>
            </a:pPr>
            <a:r>
              <a:t>●  6. When a fixup is resolved immediately vs. left as a relocation</a:t>
            </a:r>
          </a:p>
          <a:p>
            <a:pPr>
              <a:spcAft>
                <a:spcPts val="800"/>
              </a:spcAft>
              <a:defRPr sz="2000" b="0">
                <a:solidFill>
                  <a:srgbClr val="212121"/>
                </a:solidFill>
              </a:defRPr>
            </a:pPr>
            <a:r>
              <a:t>●  7. AArch64 fixup kinds &amp; their matching ELF relocation types</a:t>
            </a:r>
          </a:p>
          <a:p>
            <a:pPr>
              <a:spcAft>
                <a:spcPts val="800"/>
              </a:spcAft>
              <a:defRPr sz="2000" b="0">
                <a:solidFill>
                  <a:srgbClr val="212121"/>
                </a:solidFill>
              </a:defRPr>
            </a:pPr>
            <a:r>
              <a:t>●  8. Worked examples: branch, ADRP/LDR page addressing</a:t>
            </a:r>
          </a:p>
          <a:p>
            <a:pPr>
              <a:spcAft>
                <a:spcPts val="800"/>
              </a:spcAft>
              <a:defRPr sz="2000" b="0">
                <a:solidFill>
                  <a:srgbClr val="212121"/>
                </a:solidFill>
              </a:defRPr>
            </a:pPr>
            <a:r>
              <a:t>●  9. How the linker (and dynamic linker) resolve relocations</a:t>
            </a:r>
          </a:p>
          <a:p>
            <a:pPr>
              <a:spcAft>
                <a:spcPts val="800"/>
              </a:spcAft>
              <a:defRPr sz="2000" b="0">
                <a:solidFill>
                  <a:srgbClr val="212121"/>
                </a:solidFill>
              </a:defRPr>
            </a:pPr>
            <a:r>
              <a:t>●  10. Key files in the AArch64 backend &amp;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Fixups &amp; Relocations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The Big Picture: From Source Code to Executable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95959"/>
                </a:solidFill>
              </a:defRPr>
            </a:pPr>
            <a:r>
              <a:t>Before diving into fixups/relocations, let's see where they fit in the overall toolchain: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1783080" cy="118872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Source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Code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(.c / .cpp)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48840" y="2587752"/>
            <a:ext cx="256032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04872" y="2103120"/>
            <a:ext cx="1783080" cy="1188720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LLVM AArch64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Backend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(CodeGen)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87952" y="2587752"/>
            <a:ext cx="256032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3984" y="2103120"/>
            <a:ext cx="1783080" cy="118872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Assembly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(.s)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instructions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227064" y="2587752"/>
            <a:ext cx="256032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83096" y="2103120"/>
            <a:ext cx="1783080" cy="118872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Object File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(.o)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[Fixups-&gt;Relocs]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266176" y="2587752"/>
            <a:ext cx="256032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22208" y="2103120"/>
            <a:ext cx="1783080" cy="118872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Linker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305288" y="2587752"/>
            <a:ext cx="256032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561320" y="2103120"/>
            <a:ext cx="1783080" cy="118872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Executable /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Shared 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A61B1B"/>
                </a:solidFill>
              </a:defRPr>
            </a:pPr>
            <a:r>
              <a:t>Fixups are created here (while encoding instructions)      Relocation entries live here if not resolved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12121"/>
                </a:solidFill>
              </a:defRPr>
            </a:pPr>
            <a:r>
              <a:t>●  The compiler backend translates code into machine instructions.</a:t>
            </a:r>
          </a:p>
          <a:p>
            <a:pPr>
              <a:spcAft>
                <a:spcPts val="800"/>
              </a:spcAft>
              <a:defRPr sz="1500" b="0">
                <a:solidFill>
                  <a:srgbClr val="212121"/>
                </a:solidFill>
              </a:defRPr>
            </a:pPr>
            <a:r>
              <a:t>●  Some instructions reference addresses/symbols that are not yet fully known (e.g., a function defined elsewhere).</a:t>
            </a:r>
          </a:p>
          <a:p>
            <a:pPr>
              <a:spcAft>
                <a:spcPts val="800"/>
              </a:spcAft>
              <a:defRPr sz="1500" b="0">
                <a:solidFill>
                  <a:srgbClr val="212121"/>
                </a:solidFill>
              </a:defRPr>
            </a:pPr>
            <a:r>
              <a:t>●  The assembler/object-writer stage marks these spots so they can be patched later - this is where fixups and relocations come 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Fixups &amp; Relocations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The Core Problem: Unknown Addresses at Compile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291840" cy="146304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500" b="1" i="0">
                <a:solidFill>
                  <a:srgbClr val="212121"/>
                </a:solidFill>
              </a:defRPr>
            </a:pPr>
            <a:r>
              <a:t>Assembly instruction:</a:t>
            </a:r>
          </a:p>
          <a:p>
            <a:pPr algn="ctr">
              <a:defRPr sz="1500" b="1" i="0">
                <a:solidFill>
                  <a:srgbClr val="212121"/>
                </a:solidFill>
              </a:defRPr>
            </a:pPr>
            <a:r>
              <a:t>"BL  foo"</a:t>
            </a:r>
          </a:p>
          <a:p>
            <a:pPr algn="ctr">
              <a:defRPr sz="1500" b="1" i="0">
                <a:solidFill>
                  <a:srgbClr val="212121"/>
                </a:solidFill>
              </a:defRPr>
            </a:pPr>
            <a:r>
              <a:t>(call function foo)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77639" y="2011680"/>
            <a:ext cx="914400" cy="36576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0" y="1463040"/>
            <a:ext cx="3108960" cy="1463040"/>
          </a:xfrm>
          <a:prstGeom prst="roundRect">
            <a:avLst/>
          </a:prstGeom>
          <a:solidFill>
            <a:srgbClr val="FCE0E0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600" b="1" i="0">
                <a:solidFill>
                  <a:srgbClr val="A61B1B"/>
                </a:solidFill>
              </a:defRPr>
            </a:pPr>
            <a:r>
              <a:t>Where is 'foo' located</a:t>
            </a:r>
          </a:p>
          <a:p>
            <a:pPr algn="ctr">
              <a:defRPr sz="1600" b="1" i="0">
                <a:solidFill>
                  <a:srgbClr val="A61B1B"/>
                </a:solidFill>
              </a:defRPr>
            </a:pPr>
            <a:r>
              <a:t>in memory?</a:t>
            </a:r>
          </a:p>
          <a:p>
            <a:pPr algn="ctr">
              <a:defRPr sz="1600" b="1" i="0">
                <a:solidFill>
                  <a:srgbClr val="A61B1B"/>
                </a:solidFill>
              </a:defRPr>
            </a:pPr>
          </a:p>
          <a:p>
            <a:pPr algn="ctr">
              <a:defRPr sz="1600" b="1" i="0">
                <a:solidFill>
                  <a:srgbClr val="A61B1B"/>
                </a:solidFill>
              </a:defRPr>
            </a:pPr>
            <a:r>
              <a:t>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12121"/>
                </a:solidFill>
              </a:defRPr>
            </a:pPr>
            <a:r>
              <a:t>●  The compiler is generating code for ONE file at a time.</a:t>
            </a:r>
          </a:p>
          <a:p>
            <a:pPr>
              <a:spcAft>
                <a:spcPts val="800"/>
              </a:spcAft>
              <a:defRPr sz="1600" b="0">
                <a:solidFill>
                  <a:srgbClr val="212121"/>
                </a:solidFill>
              </a:defRPr>
            </a:pPr>
            <a:r>
              <a:t>●  'foo' might be defined in a different source file, or a different library, that hasn't been linked yet.</a:t>
            </a:r>
          </a:p>
          <a:p>
            <a:pPr>
              <a:spcAft>
                <a:spcPts val="800"/>
              </a:spcAft>
              <a:defRPr sz="1600" b="0">
                <a:solidFill>
                  <a:srgbClr val="212121"/>
                </a:solidFill>
              </a:defRPr>
            </a:pPr>
            <a:r>
              <a:t>●  So the exact byte value to place inside the BL instruction's offset field is simply not known yet.</a:t>
            </a:r>
          </a:p>
          <a:p>
            <a:pPr>
              <a:spcAft>
                <a:spcPts val="800"/>
              </a:spcAft>
              <a:defRPr sz="1600" b="0">
                <a:solidFill>
                  <a:srgbClr val="212121"/>
                </a:solidFill>
              </a:defRPr>
            </a:pPr>
            <a:r>
              <a:t>●  We can't just leave it blank - we need a system to:</a:t>
            </a:r>
          </a:p>
          <a:p>
            <a:pPr>
              <a:spcAft>
                <a:spcPts val="800"/>
              </a:spcAft>
              <a:defRPr sz="1500" b="0">
                <a:solidFill>
                  <a:srgbClr val="212121"/>
                </a:solidFill>
              </a:defRPr>
            </a:pPr>
            <a:r>
              <a:t>      –  Remember exactly which bits need to be patched</a:t>
            </a:r>
          </a:p>
          <a:p>
            <a:pPr>
              <a:spcAft>
                <a:spcPts val="800"/>
              </a:spcAft>
              <a:defRPr sz="1500" b="0">
                <a:solidFill>
                  <a:srgbClr val="212121"/>
                </a:solidFill>
              </a:defRPr>
            </a:pPr>
            <a:r>
              <a:t>      –  Remember what value (symbol + formula) should go there</a:t>
            </a:r>
          </a:p>
          <a:p>
            <a:pPr>
              <a:spcAft>
                <a:spcPts val="800"/>
              </a:spcAft>
              <a:defRPr sz="1500" b="0">
                <a:solidFill>
                  <a:srgbClr val="212121"/>
                </a:solidFill>
              </a:defRPr>
            </a:pPr>
            <a:r>
              <a:t>      –  Let a later stage (linker) fill it in once it IS known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Fixups &amp; Relocations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What is a Fixup?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95959"/>
                </a:solidFill>
              </a:defRPr>
            </a:pPr>
            <a:r>
              <a:t>A Fixup is LLVM's INTERNAL bookmark that says: "patch this spot later." It only exists while the compiler/assembler is running - it never appears in the final binary as-is.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291840" cy="1280160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MCInst + MCExpr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(instruction with a symbol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reference, e.g. 'foo - .')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40480" y="2331720"/>
            <a:ext cx="822960" cy="32004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0" y="1828800"/>
            <a:ext cx="3108960" cy="128016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AArch64AsmBackend.cpp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encodes the instruction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bytes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955279" y="2331720"/>
            <a:ext cx="822960" cy="32004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0" y="1828800"/>
            <a:ext cx="2834640" cy="128016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400" b="1" i="0">
                <a:solidFill>
                  <a:srgbClr val="A61B1B"/>
                </a:solidFill>
              </a:defRPr>
            </a:pPr>
            <a:r>
              <a:t>MCFixup created:</a:t>
            </a:r>
          </a:p>
          <a:p>
            <a:pPr algn="ctr">
              <a:defRPr sz="1400" b="1" i="0">
                <a:solidFill>
                  <a:srgbClr val="A61B1B"/>
                </a:solidFill>
              </a:defRPr>
            </a:pPr>
            <a:r>
              <a:t>offset, kind, expr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</a:defRPr>
            </a:pPr>
            <a:r>
              <a:t>MCFixup has 3 parts: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384048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68680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Offset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Which byte(s) in the instruction/section need patching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Kind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Encoding rule - bit width, position, sign, scale (defined in AArch64FixupKinds.h)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Expression (MCExpr)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The symbolic value to compute, e.g. "label - currentAddress"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Fixups &amp; Relocations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What is a Relocation Entry?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95959"/>
                </a:solidFill>
              </a:defRPr>
            </a:pPr>
            <a:r>
              <a:t>A Relocation Entry is an EXTERNAL record written into the object file (.o) itself. It survives after compilation and tells the LINKER exactly how to patch a location.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1760" y="1828800"/>
            <a:ext cx="6858000" cy="548640"/>
          </a:xfrm>
          <a:prstGeom prst="rect">
            <a:avLst/>
          </a:prstGeom>
          <a:solidFill>
            <a:srgbClr val="1F4E79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ELF Relocation Entry (RELA)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2514600"/>
            <a:ext cx="2194560" cy="118872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r_offset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Where to patch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(byte location in section)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2514600"/>
            <a:ext cx="2194560" cy="118872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r_info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Symbol index +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Relocation 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514600"/>
            <a:ext cx="2194560" cy="118872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r_addend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Constant value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added during calc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12121"/>
                </a:solidFill>
              </a:defRPr>
            </a:pPr>
            <a:r>
              <a:t>●  Lives inside the .o file's relocation section (e.g. .rela.text).</a:t>
            </a:r>
          </a:p>
          <a:p>
            <a:pPr>
              <a:spcAft>
                <a:spcPts val="800"/>
              </a:spcAft>
              <a:defRPr sz="1600" b="0">
                <a:solidFill>
                  <a:srgbClr val="212121"/>
                </a:solidFill>
              </a:defRPr>
            </a:pPr>
            <a:r>
              <a:t>●  One relocation entry corresponds to one unresolved fixup from the assembler stage.</a:t>
            </a:r>
          </a:p>
          <a:p>
            <a:pPr>
              <a:spcAft>
                <a:spcPts val="800"/>
              </a:spcAft>
              <a:defRPr sz="1600" b="0">
                <a:solidFill>
                  <a:srgbClr val="212121"/>
                </a:solidFill>
              </a:defRPr>
            </a:pPr>
            <a:r>
              <a:t>●  The Linker reads these entries, computes final values, and patches the code/data bytes.</a:t>
            </a:r>
          </a:p>
          <a:p>
            <a:pPr>
              <a:spcAft>
                <a:spcPts val="800"/>
              </a:spcAft>
              <a:defRPr sz="1600" b="0">
                <a:solidFill>
                  <a:srgbClr val="212121"/>
                </a:solidFill>
              </a:defRPr>
            </a:pPr>
            <a:r>
              <a:t>●  If a symbol is NEVER resolved (e.g., truly missing), the linker reports an "undefined reference" error.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Fixups &amp; Relocations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Fixup vs. Relocation - How They Relate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4206240" cy="2194560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600" b="1" i="0">
                <a:solidFill>
                  <a:srgbClr val="212121"/>
                </a:solidFill>
              </a:defRPr>
            </a:pPr>
            <a:r>
              <a:t>FIXUP</a:t>
            </a:r>
          </a:p>
          <a:p>
            <a:pPr algn="ctr">
              <a:defRPr sz="1600" b="1" i="0">
                <a:solidFill>
                  <a:srgbClr val="212121"/>
                </a:solidFill>
              </a:defRPr>
            </a:pPr>
          </a:p>
          <a:p>
            <a:pPr algn="ctr">
              <a:defRPr sz="1600" b="1" i="0">
                <a:solidFill>
                  <a:srgbClr val="212121"/>
                </a:solidFill>
              </a:defRPr>
            </a:pPr>
            <a:r>
              <a:t>(Internal LLVM MC concept)</a:t>
            </a:r>
          </a:p>
          <a:p>
            <a:pPr algn="ctr">
              <a:defRPr sz="1600" b="1" i="0">
                <a:solidFill>
                  <a:srgbClr val="212121"/>
                </a:solidFill>
              </a:defRPr>
            </a:pPr>
            <a:r>
              <a:t>Lives only during</a:t>
            </a:r>
          </a:p>
          <a:p>
            <a:pPr algn="ctr">
              <a:defRPr sz="1600" b="1" i="0">
                <a:solidFill>
                  <a:srgbClr val="212121"/>
                </a:solidFill>
              </a:defRPr>
            </a:pPr>
            <a:r>
              <a:t>assembly / codegen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120640" y="2651760"/>
            <a:ext cx="1828800" cy="54864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0" y="3246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A61B1B"/>
                </a:solidFill>
              </a:defRPr>
            </a:pPr>
            <a:r>
              <a:t>if NOT fully</a:t>
            </a:r>
            <a:br/>
            <a:r>
              <a:t>resolvable 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828800"/>
            <a:ext cx="4206240" cy="2194560"/>
          </a:xfrm>
          <a:prstGeom prst="roundRect">
            <a:avLst/>
          </a:prstGeom>
          <a:solidFill>
            <a:srgbClr val="FCE0E0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600" b="1" i="0">
                <a:solidFill>
                  <a:srgbClr val="A61B1B"/>
                </a:solidFill>
              </a:defRPr>
            </a:pPr>
            <a:r>
              <a:t>RELOCATION ENTRY</a:t>
            </a:r>
          </a:p>
          <a:p>
            <a:pPr algn="ctr">
              <a:defRPr sz="1600" b="1" i="0">
                <a:solidFill>
                  <a:srgbClr val="A61B1B"/>
                </a:solidFill>
              </a:defRPr>
            </a:pPr>
          </a:p>
          <a:p>
            <a:pPr algn="ctr">
              <a:defRPr sz="1600" b="1" i="0">
                <a:solidFill>
                  <a:srgbClr val="A61B1B"/>
                </a:solidFill>
              </a:defRPr>
            </a:pPr>
            <a:r>
              <a:t>(External object-file record)</a:t>
            </a:r>
          </a:p>
          <a:p>
            <a:pPr algn="ctr">
              <a:defRPr sz="1600" b="1" i="0">
                <a:solidFill>
                  <a:srgbClr val="A61B1B"/>
                </a:solidFill>
              </a:defRPr>
            </a:pPr>
            <a:r>
              <a:t>Lives in the .o file,</a:t>
            </a:r>
          </a:p>
          <a:p>
            <a:pPr algn="ctr">
              <a:defRPr sz="1600" b="1" i="0">
                <a:solidFill>
                  <a:srgbClr val="A61B1B"/>
                </a:solidFill>
              </a:defRPr>
            </a:pPr>
            <a:r>
              <a:t>read later by the linker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548F3B"/>
                </a:solidFill>
              </a:defRPr>
            </a:pPr>
            <a:r>
              <a:t>If the fixup CAN be resolved immediately (value fully known &amp; fits the field), the assembler patches the bytes directly and NO relocation entry is produced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A61B1B"/>
                </a:solidFill>
              </a:defRPr>
            </a:pPr>
            <a:r>
              <a:t>Otherwise, the fixup is converted into a relocation entry so the linker can finish the job later.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Fixups &amp; Relocations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Step-by-Step: How AArch64 Fixups Are Created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651760" cy="155448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1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Instruction Selection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AArch64ISelLowering.cpp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lowers IR to target ops/addresses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08960" y="2130552"/>
            <a:ext cx="32004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651760" cy="1554480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2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MC Instruction Lowering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AArch64MCInstLower.cpp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builds MCInst + MCExpr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080760" y="2130552"/>
            <a:ext cx="32004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2651760" cy="155448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3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Instruction Encoding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AArch64AsmBackend.cpp /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MCCodeEmitter encode bytes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052560" y="2130552"/>
            <a:ext cx="32004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72600" y="1463040"/>
            <a:ext cx="2651760" cy="155448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4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Fixup Creation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MCFixup(offset, kind, expr)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created for symbolic operands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95959"/>
                </a:solidFill>
              </a:defRPr>
            </a:pPr>
            <a:r>
              <a:t>Example: assembly "b label" -&gt; expression "label - ." (PC-relative) -&gt; fixup kind fixup_aarch64_pcrel_branch is attached to the branch's 26-bit immediate field.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12121"/>
                </a:solidFill>
              </a:defRPr>
            </a:pPr>
            <a:r>
              <a:t>●  Codegen never deals with raw relocation types - it only builds MCExpr (symbolic math).</a:t>
            </a:r>
          </a:p>
          <a:p>
            <a:pPr>
              <a:spcAft>
                <a:spcPts val="800"/>
              </a:spcAft>
              <a:defRPr sz="1600" b="0">
                <a:solidFill>
                  <a:srgbClr val="212121"/>
                </a:solidFill>
              </a:defRPr>
            </a:pPr>
            <a:r>
              <a:t>●  The MC layer (AsmBackend) is the ONLY place that decides bit-encoding using the fixup Kind.</a:t>
            </a:r>
          </a:p>
          <a:p>
            <a:pPr>
              <a:spcAft>
                <a:spcPts val="800"/>
              </a:spcAft>
              <a:defRPr sz="1600" b="0">
                <a:solidFill>
                  <a:srgbClr val="212121"/>
                </a:solidFill>
              </a:defRPr>
            </a:pPr>
            <a:r>
              <a:t>●  This separation keeps the backend clean: codegen is target-generic in spirit, encoding is target-specific.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Fixups &amp; Relocations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Case 1: Fixup Resolved Immediately (No Relocation)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212080" cy="192024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>
              <a:defRPr sz="1500" b="1" i="0">
                <a:solidFill>
                  <a:srgbClr val="212121"/>
                </a:solidFill>
              </a:defRPr>
            </a:pPr>
            <a:r>
              <a:t>Conditions:</a:t>
            </a:r>
          </a:p>
          <a:p>
            <a:pPr algn="l">
              <a:defRPr sz="1500" b="1" i="0">
                <a:solidFill>
                  <a:srgbClr val="212121"/>
                </a:solidFill>
              </a:defRPr>
            </a:pPr>
            <a:r>
              <a:t>- Symbol is LOCAL &amp; in same section</a:t>
            </a:r>
          </a:p>
          <a:p>
            <a:pPr algn="l">
              <a:defRPr sz="1500" b="1" i="0">
                <a:solidFill>
                  <a:srgbClr val="212121"/>
                </a:solidFill>
              </a:defRPr>
            </a:pPr>
            <a:r>
              <a:t>- Final layout already known</a:t>
            </a:r>
          </a:p>
          <a:p>
            <a:pPr algn="l">
              <a:defRPr sz="1500" b="1" i="0">
                <a:solidFill>
                  <a:srgbClr val="212121"/>
                </a:solidFill>
              </a:defRPr>
            </a:pPr>
            <a:r>
              <a:t>- Computed value FITS the field size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5394960" cy="192024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>
              <a:defRPr sz="1500" b="1" i="0">
                <a:solidFill>
                  <a:srgbClr val="212121"/>
                </a:solidFill>
              </a:defRPr>
            </a:pPr>
            <a:r>
              <a:t>Result:</a:t>
            </a:r>
          </a:p>
          <a:p>
            <a:pPr algn="l">
              <a:defRPr sz="1500" b="1" i="0">
                <a:solidFill>
                  <a:srgbClr val="212121"/>
                </a:solidFill>
              </a:defRPr>
            </a:pPr>
            <a:r>
              <a:t>- AsmBackend evaluates MCExpr -&gt; integer</a:t>
            </a:r>
          </a:p>
          <a:p>
            <a:pPr algn="l">
              <a:defRPr sz="1500" b="1" i="0">
                <a:solidFill>
                  <a:srgbClr val="212121"/>
                </a:solidFill>
              </a:defRPr>
            </a:pPr>
            <a:r>
              <a:t>- Patches instruction bits directly</a:t>
            </a:r>
          </a:p>
          <a:p>
            <a:pPr algn="l">
              <a:defRPr sz="1500" b="1" i="0">
                <a:solidFill>
                  <a:srgbClr val="212121"/>
                </a:solidFill>
              </a:defRPr>
            </a:pPr>
            <a:r>
              <a:t>- NO relocation entry written to .o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</a:defRPr>
            </a:pPr>
            <a:r>
              <a:t>Example: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77639"/>
            <a:ext cx="10972800" cy="1188720"/>
          </a:xfrm>
          <a:prstGeom prst="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>
              <a:defRPr sz="1400" b="0" i="0">
                <a:solidFill>
                  <a:srgbClr val="212121"/>
                </a:solidFill>
              </a:defRPr>
            </a:pPr>
            <a:r>
              <a:t>L1:  ...</a:t>
            </a:r>
          </a:p>
          <a:p>
            <a:pPr algn="l">
              <a:defRPr sz="1400" b="0" i="0">
                <a:solidFill>
                  <a:srgbClr val="212121"/>
                </a:solidFill>
              </a:defRPr>
            </a:pPr>
            <a:r>
              <a:t>     b   L1        ; branch to a LOCAL label just above</a:t>
            </a:r>
          </a:p>
          <a:p>
            <a:pPr algn="l">
              <a:defRPr sz="1400" b="0" i="0">
                <a:solidFill>
                  <a:srgbClr val="212121"/>
                </a:solidFill>
              </a:defRPr>
            </a:pPr>
            <a:r>
              <a:t>     ; offset is known at assembly time -&gt; encoded directly, no reloc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49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12121"/>
                </a:solidFill>
              </a:defRPr>
            </a:pPr>
            <a:r>
              <a:t>●  Most short local branches, local constant-pool references, and intra-function jumps fall in this case.</a:t>
            </a:r>
          </a:p>
          <a:p>
            <a:pPr>
              <a:spcAft>
                <a:spcPts val="800"/>
              </a:spcAft>
              <a:defRPr sz="1500" b="0">
                <a:solidFill>
                  <a:srgbClr val="212121"/>
                </a:solidFill>
              </a:defRPr>
            </a:pPr>
            <a:r>
              <a:t>●  Benefit: smaller object files, less work needed later at link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Fixups &amp; Relocations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Case 2: Fixup Left as a Relocation Entry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212080" cy="2103120"/>
          </a:xfrm>
          <a:prstGeom prst="roundRect">
            <a:avLst/>
          </a:prstGeom>
          <a:solidFill>
            <a:srgbClr val="FCE0E0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>
              <a:defRPr sz="1500" b="1" i="0">
                <a:solidFill>
                  <a:srgbClr val="A61B1B"/>
                </a:solidFill>
              </a:defRPr>
            </a:pPr>
            <a:r>
              <a:t>Conditions:</a:t>
            </a:r>
          </a:p>
          <a:p>
            <a:pPr algn="l">
              <a:defRPr sz="1500" b="1" i="0">
                <a:solidFill>
                  <a:srgbClr val="A61B1B"/>
                </a:solidFill>
              </a:defRPr>
            </a:pPr>
            <a:r>
              <a:t>- Symbol is EXTERNAL / in another object</a:t>
            </a:r>
          </a:p>
          <a:p>
            <a:pPr algn="l">
              <a:defRPr sz="1500" b="1" i="0">
                <a:solidFill>
                  <a:srgbClr val="A61B1B"/>
                </a:solidFill>
              </a:defRPr>
            </a:pPr>
            <a:r>
              <a:t>- Position-independent code (PIC/PIE)</a:t>
            </a:r>
          </a:p>
          <a:p>
            <a:pPr algn="l">
              <a:defRPr sz="1500" b="1" i="0">
                <a:solidFill>
                  <a:srgbClr val="A61B1B"/>
                </a:solidFill>
              </a:defRPr>
            </a:pPr>
            <a:r>
              <a:t>- TLS, GOT, or PLT references</a:t>
            </a:r>
          </a:p>
          <a:p>
            <a:pPr algn="l">
              <a:defRPr sz="1500" b="1" i="0">
                <a:solidFill>
                  <a:srgbClr val="A61B1B"/>
                </a:solidFill>
              </a:defRPr>
            </a:pPr>
            <a:r>
              <a:t>- Value not fully known at assembly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5394960" cy="210312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>
              <a:defRPr sz="1500" b="1" i="0">
                <a:solidFill>
                  <a:srgbClr val="212121"/>
                </a:solidFill>
              </a:defRPr>
            </a:pPr>
            <a:r>
              <a:t>Result:</a:t>
            </a:r>
          </a:p>
          <a:p>
            <a:pPr algn="l">
              <a:defRPr sz="1500" b="1" i="0">
                <a:solidFill>
                  <a:srgbClr val="212121"/>
                </a:solidFill>
              </a:defRPr>
            </a:pPr>
            <a:r>
              <a:t>- Instruction bits left as placeholder (zero)</a:t>
            </a:r>
          </a:p>
          <a:p>
            <a:pPr algn="l">
              <a:defRPr sz="1500" b="1" i="0">
                <a:solidFill>
                  <a:srgbClr val="212121"/>
                </a:solidFill>
              </a:defRPr>
            </a:pPr>
            <a:r>
              <a:t>- ObjectWriter emits relocation entry</a:t>
            </a:r>
          </a:p>
          <a:p>
            <a:pPr algn="l">
              <a:defRPr sz="1500" b="1" i="0">
                <a:solidFill>
                  <a:srgbClr val="212121"/>
                </a:solidFill>
              </a:defRPr>
            </a:pPr>
            <a:r>
              <a:t>- Entry stored in .rela.text / .rela.data</a:t>
            </a:r>
          </a:p>
          <a:p>
            <a:pPr algn="l">
              <a:defRPr sz="1500" b="1" i="0">
                <a:solidFill>
                  <a:srgbClr val="212121"/>
                </a:solidFill>
              </a:defRPr>
            </a:pPr>
            <a:r>
              <a:t>- Linker must finish the job later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</a:defRPr>
            </a:pPr>
            <a:r>
              <a:t>Example: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60520"/>
            <a:ext cx="10972800" cy="1005840"/>
          </a:xfrm>
          <a:prstGeom prst="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>
              <a:defRPr sz="1400" b="0" i="0">
                <a:solidFill>
                  <a:srgbClr val="212121"/>
                </a:solidFill>
              </a:defRPr>
            </a:pPr>
            <a:r>
              <a:t>     bl   printf      ; printf is defined in libc, not this file</a:t>
            </a:r>
          </a:p>
          <a:p>
            <a:pPr algn="l">
              <a:defRPr sz="1400" b="0" i="0">
                <a:solidFill>
                  <a:srgbClr val="212121"/>
                </a:solidFill>
              </a:defRPr>
            </a:pPr>
            <a:r>
              <a:t>     ; assembler cannot compute the offset -&gt; emits R_AARCH64_CALL26 relocation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12121"/>
                </a:solidFill>
              </a:defRPr>
            </a:pPr>
            <a:r>
              <a:t>●  This is the normal case for calling library functions, accessing global variables across files, PIC/PIE code, and thread-local variables.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Fixups &amp; Relocations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AArch64 Fixup Kinds (AArch64FixupKinds.h)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95959"/>
                </a:solidFill>
              </a:defRPr>
            </a:pPr>
            <a:r>
              <a:t>Each Fixup Kind describes exactly how to encode a value into the instruction bits.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0876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4114800"/>
                <a:gridCol w="3474720"/>
              </a:tblGrid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Fixup Kind (concept)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Used For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Bit Field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fixup_aarch64_pcrel_branch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B / BL unconditional branch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26-bit PC-relative, scaled by 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fixup_aarch64_pcrel_branch19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Conditional branch (B.cond, CBZ)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19-bit PC-relative, scaled by 4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fixup_aarch64_adr_pcrel_page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ADRP page address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21-bit page offset, PC-relative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fixup_aarch64_ldst_pcrel_imm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LDR (literal)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19-bit PC-relative, scaled by 4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fixup_aarch64_add_imm12 / ldst_imm12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ADD/LDR low-12 offset after ADRP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12-bit unsigned immediate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fixup_aarch64_movw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MOVZ/MOVK 16-bit piece of address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16-bit immediate, shift-dependent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fixup_aarch64_tlsdesc_call / tls_*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Thread-Local Storage access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Varies (call/page/imm)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Fixups &amp; Relocations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Mapping Fixups -&gt; ELF Relocation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95959"/>
                </a:solidFill>
              </a:defRPr>
            </a:pPr>
            <a:r>
              <a:t>File: MCTargetDesc/AArch64ELFObjectWriter.cpp decides which R_AARCH64_* relocation corresponds to each fixup kind.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120640" cy="566928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fixup_aarch64_pcrel_branch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06440" y="1764792"/>
            <a:ext cx="822960" cy="329184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0" y="1645920"/>
            <a:ext cx="4846320" cy="566928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R_AARCH64_JUMP26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59152"/>
            <a:ext cx="5120640" cy="566928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fixup_aarch64_pcrel_call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06440" y="2478024"/>
            <a:ext cx="822960" cy="329184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0" y="2359152"/>
            <a:ext cx="4846320" cy="566928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R_AARCH64_CALL26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72384"/>
            <a:ext cx="5120640" cy="566928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fixup_aarch64_adr_pcrel_page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06440" y="3191256"/>
            <a:ext cx="822960" cy="329184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0" y="3072384"/>
            <a:ext cx="4846320" cy="566928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R_AARCH64_ADR_PREL_PG_HI21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85616"/>
            <a:ext cx="5120640" cy="566928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fixup_aarch64_add/ldst_imm12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06440" y="3904488"/>
            <a:ext cx="822960" cy="329184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0" y="3785616"/>
            <a:ext cx="4846320" cy="566928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R_AARCH64_ADD/LDST*_ABS_LO12_NC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98848"/>
            <a:ext cx="5120640" cy="566928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fixup_aarch64_movw (abs)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06440" y="4617720"/>
            <a:ext cx="822960" cy="329184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66560" y="4498848"/>
            <a:ext cx="4846320" cy="566928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R_AARCH64_MOVW_UABS_G0/G1/G2/G3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212080"/>
            <a:ext cx="5120640" cy="566928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fixup_aarch64_tls_*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806440" y="5330952"/>
            <a:ext cx="822960" cy="329184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66560" y="5212080"/>
            <a:ext cx="4846320" cy="566928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R_AARCH64_TLS*  (TPREL/DTPREL/GD)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Fixups &amp; Relocations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Common AArch64 ELF Relocation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5212080"/>
              </a:tblGrid>
              <a:tr h="6172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Relocation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Branch/Call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R_AARCH64_JUMP26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26-bit PC-relative unconditional branch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Branch/Call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R_AARCH64_CALL26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26-bit PC-relative call (BL)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Page Address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R_AARCH64_ADR_PREL_PG_HI21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ADRP page-relative high bits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Low Offset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R_AARCH64_LDST*_ABS_LO12_NC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Low 12 bits for load/store after ADRP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Absolute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R_AARCH64_ABS64 / ABS32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Full absolute address/value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GOT/PLT (dynamic)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R_AARCH64_GLOB_DAT / JUMP_SLOT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Resolved by the dynamic linker at load time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TLS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R_AARCH64_TLS_TPREL / DTPREL / TLSDESC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Thread-local variable addressing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Fixups &amp; Relocations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Worked Example 1: PC-Relative Branch ("b foo")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377440" cy="100584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500" b="1" i="0">
                <a:solidFill>
                  <a:srgbClr val="212121"/>
                </a:solidFill>
              </a:defRPr>
            </a:pPr>
            <a:r>
              <a:t>Source:</a:t>
            </a:r>
          </a:p>
          <a:p>
            <a:pPr algn="ctr">
              <a:defRPr sz="1500" b="1" i="0">
                <a:solidFill>
                  <a:srgbClr val="212121"/>
                </a:solidFill>
              </a:defRPr>
            </a:pPr>
            <a:r>
              <a:t>"b foo"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26080" y="1783080"/>
            <a:ext cx="640080" cy="27432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0" y="1371600"/>
            <a:ext cx="3291840" cy="1005840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Fixup: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fixup_aarch64_pcrel_branch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Expr: foo - 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040880" y="1783080"/>
            <a:ext cx="640080" cy="27432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3840480" cy="100584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Decision: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foo local &amp; known?</a:t>
            </a:r>
          </a:p>
        </p:txBody>
      </p:sp>
      <p:sp>
        <p:nvSpPr>
          <p:cNvPr id="9" name="Down Arrow 8"/>
          <p:cNvSpPr/>
          <p:nvPr/>
        </p:nvSpPr>
        <p:spPr>
          <a:xfrm>
            <a:off x="8503920" y="2377440"/>
            <a:ext cx="457200" cy="365760"/>
          </a:xfrm>
          <a:prstGeom prst="down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743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548F3B"/>
                </a:solidFill>
              </a:defRPr>
            </a:pPr>
            <a:r>
              <a:t>YES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3108960"/>
            <a:ext cx="3291840" cy="137160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Encode offset directly: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(S + A - P) &gt;&gt; 2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into 26-bit field.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NO relocation.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2743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61B1B"/>
                </a:solidFill>
              </a:defRPr>
            </a:pPr>
            <a:r>
              <a:t>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108960"/>
            <a:ext cx="3291840" cy="1371600"/>
          </a:xfrm>
          <a:prstGeom prst="roundRect">
            <a:avLst/>
          </a:prstGeom>
          <a:solidFill>
            <a:srgbClr val="FCE0E0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A61B1B"/>
                </a:solidFill>
              </a:defRPr>
            </a:pPr>
            <a:r>
              <a:t>Emit relocation:</a:t>
            </a:r>
          </a:p>
          <a:p>
            <a:pPr algn="ctr">
              <a:defRPr sz="1300" b="1" i="0">
                <a:solidFill>
                  <a:srgbClr val="A61B1B"/>
                </a:solidFill>
              </a:defRPr>
            </a:pPr>
            <a:r>
              <a:t>R_AARCH64_JUMP26</a:t>
            </a:r>
          </a:p>
          <a:p>
            <a:pPr algn="ctr">
              <a:defRPr sz="1300" b="1" i="0">
                <a:solidFill>
                  <a:srgbClr val="A61B1B"/>
                </a:solidFill>
              </a:defRPr>
            </a:pPr>
            <a:r>
              <a:t>Linker later computes</a:t>
            </a:r>
          </a:p>
          <a:p>
            <a:pPr algn="ctr">
              <a:defRPr sz="1300" b="1" i="0">
                <a:solidFill>
                  <a:srgbClr val="A61B1B"/>
                </a:solidFill>
              </a:defRPr>
            </a:pPr>
            <a:r>
              <a:t>(S + A - P) &gt;&gt; 2 and patches.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595959"/>
                </a:solidFill>
              </a:defRPr>
            </a:pPr>
            <a:r>
              <a:t>S = symbol address,  A = addend,  P = place (address of the instruction itself)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595959"/>
                </a:solidFill>
              </a:defRPr>
            </a:pPr>
            <a:r>
              <a:t>This same &gt;&gt;2 shift-by-4 pattern appears because AArch64 instructions are always 4 bytes long.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Fixups &amp; Relocations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Worked Example 2: ADRP + LDR (Page-Relative Addressing)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657600" cy="128016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adrp x0, var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(compute PAGE address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of 'var')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417320"/>
            <a:ext cx="3657600" cy="1280160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ldr x1, [x0, #off]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(load from 'var' using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low 12-bit offset)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51960" y="1920240"/>
            <a:ext cx="274320" cy="27432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</a:defRPr>
            </a:pPr>
            <a:r>
              <a:t>Fixups &amp; Relocations produced: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291840"/>
          <a:ext cx="10972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931920"/>
                <a:gridCol w="4114800"/>
              </a:tblGrid>
              <a:tr h="4267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Instruction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Fixup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ELF Relocation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adrp x0, var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fixup_aarch64_adr_pcrel_page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R_AARCH64_ADR_PREL_PG_HI21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ldr x1, [x0, #off]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fixup_aarch64_ldst_imm12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R_AARCH64_LDST64_ABS_LO12_NC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75488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12121"/>
                </a:solidFill>
              </a:defRPr>
            </a:pPr>
            <a:r>
              <a:t>●  Linker computes the PAGE address of 'var' relative to PC, encodes the high 21 bits into ADRP.</a:t>
            </a:r>
          </a:p>
          <a:p>
            <a:pPr>
              <a:spcAft>
                <a:spcPts val="800"/>
              </a:spcAft>
              <a:defRPr sz="1500" b="0">
                <a:solidFill>
                  <a:srgbClr val="212121"/>
                </a:solidFill>
              </a:defRPr>
            </a:pPr>
            <a:r>
              <a:t>●  Linker computes the LOW 12-bit offset of 'var' within that page, encodes it into LDR's immediate.</a:t>
            </a:r>
          </a:p>
          <a:p>
            <a:pPr>
              <a:spcAft>
                <a:spcPts val="800"/>
              </a:spcAft>
              <a:defRPr sz="1500" b="0">
                <a:solidFill>
                  <a:srgbClr val="212121"/>
                </a:solidFill>
              </a:defRPr>
            </a:pPr>
            <a:r>
              <a:t>●  Result: a full 64-bit-range address is built from two small, cheap-to-encode instructions.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Fixups &amp; Relocations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How the Linker Resolves Relocations (Link Time)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12121"/>
                </a:solidFill>
              </a:defRPr>
            </a:pPr>
            <a:r>
              <a:t>●  1. Read every relocation entry from every input .o file's relocation section.</a:t>
            </a:r>
          </a:p>
          <a:p>
            <a:pPr>
              <a:spcAft>
                <a:spcPts val="800"/>
              </a:spcAft>
              <a:defRPr sz="1700" b="0">
                <a:solidFill>
                  <a:srgbClr val="212121"/>
                </a:solidFill>
              </a:defRPr>
            </a:pPr>
            <a:r>
              <a:t>●  2. Look up the referenced symbol in the global symbol table -&gt; find its FINAL address (S).</a:t>
            </a:r>
          </a:p>
          <a:p>
            <a:pPr>
              <a:spcAft>
                <a:spcPts val="800"/>
              </a:spcAft>
              <a:defRPr sz="1700" b="0">
                <a:solidFill>
                  <a:srgbClr val="212121"/>
                </a:solidFill>
              </a:defRPr>
            </a:pPr>
            <a:r>
              <a:t>●  3. Take the addend (A) and the place/location of the fixup (P) from the entry.</a:t>
            </a:r>
          </a:p>
          <a:p>
            <a:pPr>
              <a:spcAft>
                <a:spcPts val="800"/>
              </a:spcAft>
              <a:defRPr sz="1700" b="0">
                <a:solidFill>
                  <a:srgbClr val="212121"/>
                </a:solidFill>
              </a:defRPr>
            </a:pPr>
            <a:r>
              <a:t>●  4. Apply the AArch64 ABI formula for that specific relocation TYPE.</a:t>
            </a:r>
          </a:p>
          <a:p>
            <a:pPr>
              <a:spcAft>
                <a:spcPts val="800"/>
              </a:spcAft>
              <a:defRPr sz="1700" b="0">
                <a:solidFill>
                  <a:srgbClr val="212121"/>
                </a:solidFill>
              </a:defRPr>
            </a:pPr>
            <a:r>
              <a:t>●  5. Write the computed value into the correct bits at r_offset in the final binary.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3931920"/>
            <a:ext cx="8869680" cy="118872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2000" b="1" i="0">
                <a:solidFill>
                  <a:srgbClr val="212121"/>
                </a:solidFill>
              </a:defRPr>
            </a:pPr>
            <a:r>
              <a:t>Example formula for R_AARCH64_JUMP26 / CALL26:</a:t>
            </a:r>
          </a:p>
          <a:p>
            <a:pPr algn="ctr">
              <a:defRPr sz="2000" b="1" i="0">
                <a:solidFill>
                  <a:srgbClr val="212121"/>
                </a:solidFill>
              </a:defRPr>
            </a:pPr>
          </a:p>
          <a:p>
            <a:pPr algn="ctr">
              <a:defRPr sz="2000" b="1" i="0">
                <a:solidFill>
                  <a:srgbClr val="212121"/>
                </a:solidFill>
              </a:defRPr>
            </a:pPr>
            <a:r>
              <a:t>value = (S + A - P) &gt;&gt;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595959"/>
                </a:solidFill>
              </a:defRPr>
            </a:pPr>
            <a:r>
              <a:t>Different relocation TYPES use different formulas (absolute, page-relative, TLS, etc.) - but the general idea (symbol address + addend - place, then encode into the right bits) is the same.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Fixups &amp; Relocations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Dynamic Relocations: When Resolution Waits Until Runtime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95959"/>
                </a:solidFill>
              </a:defRPr>
            </a:pPr>
            <a:r>
              <a:t>For shared libraries (.so) and PIE executables, some relocations cannot be fully resolved even by the static linker - they need the DYNAMIC LINKER at program load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2011680"/>
            <a:ext cx="2377440" cy="109728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Static Linker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(ld)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40480" y="2450592"/>
            <a:ext cx="45720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2377440" cy="109728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Shared Object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(.so) w/ dynamic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relocations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675120" y="2450592"/>
            <a:ext cx="45720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0" y="2011680"/>
            <a:ext cx="2377440" cy="1097280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Program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Loader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(ld.so)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509760" y="2450592"/>
            <a:ext cx="45720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66960" y="2011680"/>
            <a:ext cx="2377440" cy="109728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Process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memory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(final addrs)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749039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91840"/>
                <a:gridCol w="50292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Relocation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Resolved By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R_AARCH64_GLOB_DAT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Dynamic linker (runtime)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Fix a GOT entry to point to the real symbol address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R_AARCH64_JUMP_SLOT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Dynamic linker (runtime, often lazy)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Fix a PLT stub to point to the real function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R_AARCH64_TLS_TPREL64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Dynamic linker / TLS setup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Compute thread-local variable's offset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Fixups &amp; Relocations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End-to-End Summary: The Full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743200" cy="91440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CodeGen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(ISel + MCInstLower)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0400" y="1627632"/>
            <a:ext cx="27432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0" y="1280160"/>
            <a:ext cx="2743200" cy="914400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AsmBackend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creates MCFixup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217920" y="1627632"/>
            <a:ext cx="27432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0" y="1280160"/>
            <a:ext cx="2743200" cy="91440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Known?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(decision)</a:t>
            </a:r>
          </a:p>
        </p:txBody>
      </p:sp>
      <p:sp>
        <p:nvSpPr>
          <p:cNvPr id="9" name="Down Arrow 8"/>
          <p:cNvSpPr/>
          <p:nvPr/>
        </p:nvSpPr>
        <p:spPr>
          <a:xfrm>
            <a:off x="2286000" y="2286000"/>
            <a:ext cx="457200" cy="365760"/>
          </a:xfrm>
          <a:prstGeom prst="down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548F3B"/>
                </a:solidFill>
              </a:defRPr>
            </a:pPr>
            <a:r>
              <a:t>YES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63240"/>
            <a:ext cx="3108960" cy="82296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Patch bytes directly</a:t>
            </a:r>
          </a:p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-&gt; NO relocation needed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229600" y="2286000"/>
            <a:ext cx="457200" cy="365760"/>
          </a:xfrm>
          <a:prstGeom prst="down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6974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A61B1B"/>
                </a:solidFill>
              </a:defRPr>
            </a:pPr>
            <a:r>
              <a:t>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063240"/>
            <a:ext cx="4023360" cy="914400"/>
          </a:xfrm>
          <a:prstGeom prst="roundRect">
            <a:avLst/>
          </a:prstGeom>
          <a:solidFill>
            <a:srgbClr val="FCE0E0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200" b="1" i="0">
                <a:solidFill>
                  <a:srgbClr val="A61B1B"/>
                </a:solidFill>
              </a:defRPr>
            </a:pPr>
            <a:r>
              <a:t>AArch64ELFObjectWriter.cpp</a:t>
            </a:r>
          </a:p>
          <a:p>
            <a:pPr algn="ctr">
              <a:defRPr sz="1200" b="1" i="0">
                <a:solidFill>
                  <a:srgbClr val="A61B1B"/>
                </a:solidFill>
              </a:defRPr>
            </a:pPr>
            <a:r>
              <a:t>maps fixup -&gt; R_AARCH64_*</a:t>
            </a:r>
          </a:p>
          <a:p>
            <a:pPr algn="ctr">
              <a:defRPr sz="1200" b="1" i="0">
                <a:solidFill>
                  <a:srgbClr val="A61B1B"/>
                </a:solidFill>
              </a:defRPr>
            </a:pPr>
            <a:r>
              <a:t>relocation entry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229600" y="3977639"/>
            <a:ext cx="457200" cy="365760"/>
          </a:xfrm>
          <a:prstGeom prst="down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43200" y="4434840"/>
            <a:ext cx="6675120" cy="100584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Linker / Dynamic Linker: resolves symbol address, applies ABI formula, patches the final instruction bytes in the executable / shared library.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1">
                <a:solidFill>
                  <a:srgbClr val="1F4E79"/>
                </a:solidFill>
              </a:defRPr>
            </a:pPr>
            <a:r>
              <a:t>Fixups = compiler's internal TODO notes.   Relocations = the object file's permanent instructions to the linker.   Together they let separately-compiled files be linked into one program.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Fixups &amp; Relocations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Key Files in the AArch64 Backend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300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7223760"/>
              </a:tblGrid>
              <a:tr h="60579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MCTargetDesc/AArch64FixupKinds.h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Enumerates fixup kinds and their bit-encoding semantics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MCTargetDesc/AArch64MCExpr.cpp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Target-specific MCExpr forms (page-rel, GOT, TLS math)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MCTargetDesc/AArch64AsmBackend.cpp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Encodes instructions and applies/creates fixups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MCTargetDesc/AArch64ELFObjectWriter.cpp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Maps fixup kinds to ELF relocation types, emits relocations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MCTargetDesc/AArch64ELFStreamer.cpp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Streams sections/relocations into the ELF object file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AArch64MCInstLower.cpp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Converts MachineInstr into MCInst + MCExpr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AArch64ISelLowering.cpp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Instruction selection - produces symbolic operands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Fixups &amp; Relocations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  <a:latin typeface="Calibri"/>
              </a:defRPr>
            </a:pPr>
            <a:r>
              <a:t>Quick Recap / Cheat Sheet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300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503920"/>
              </a:tblGrid>
              <a:tr h="692331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Term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One-line definition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Fixup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Internal LLVM marker: "this field needs a computed value, patch it now or later"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Relocation Entry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Object-file record telling the linker how to patch a location once symbols are known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Resolved Fixup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Value was fully known at assembly time -&gt; bytes patched directly, no relocation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Unresolved Fixup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Value not known yet -&gt; becomes a relocation entry for the linker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Static Relocation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Fully resolved by the linker at link time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Dynamic Relocation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Resolved by the OS dynamic linker at program load / run time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AArch64 Fixups &amp; Relocations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2560320"/>
            <a:ext cx="5760720" cy="109728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4000" b="1" i="0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595959"/>
                </a:solidFill>
              </a:defRPr>
            </a:pPr>
            <a:r>
              <a:t>Questions? Explore MCTargetDesc/ in llvm/lib/Target/AArch64/ to see the real source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