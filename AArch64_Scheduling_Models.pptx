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393192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93192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728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600" b="1" i="0">
                <a:solidFill>
                  <a:srgbClr val="FFFFFF"/>
                </a:solidFill>
                <a:latin typeface="Calibri"/>
              </a:rPr>
              <a:t>LLVM Scheduling Models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0">
                <a:solidFill>
                  <a:srgbClr val="B8C2D9"/>
                </a:solidFill>
                <a:latin typeface="Calibri"/>
              </a:rPr>
              <a:t>Understanding Instruction Scheduling in the AArch64 Backend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51460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450" b="0" i="1">
                <a:solidFill>
                  <a:srgbClr val="B8C2D9"/>
                </a:solidFill>
                <a:latin typeface="Calibri"/>
              </a:rPr>
              <a:t>A beginner-friendly, source-code-driven tour of how LLVM decides the ORDER and TIMING of instructions for a specific AArch64 CPU.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251960"/>
            <a:ext cx="269748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242A37"/>
                </a:solidFill>
                <a:latin typeface="Calibri"/>
              </a:rPr>
              <a:t>Why Scheduling
Matters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20440" y="4251960"/>
            <a:ext cx="269748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242A37"/>
                </a:solidFill>
                <a:latin typeface="Calibri"/>
              </a:rPr>
              <a:t>Core Building
Blocks (TableGen)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251960"/>
            <a:ext cx="269748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242A37"/>
                </a:solidFill>
                <a:latin typeface="Calibri"/>
              </a:rPr>
              <a:t>Instruction-Level
Overrides &amp; Fusion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281160" y="4251960"/>
            <a:ext cx="2697480" cy="10058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242A37"/>
                </a:solidFill>
                <a:latin typeface="Calibri"/>
              </a:rPr>
              <a:t>Putting It All
Together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AArch64Schedule.td; AArch64Sched&lt;CPU&gt;.td; AArch64MachineScheduler.*; AArch64MacroFusion.cpp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1 - WHY SCHEDULING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Why Does Instruction Order Matter?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C0392B"/>
                </a:solidFill>
                <a:latin typeface="Calibri"/>
              </a:rPr>
              <a:t>Naive order (stalls)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783080"/>
            <a:ext cx="5394960" cy="13716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1856232"/>
            <a:ext cx="5065776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F6C177"/>
                </a:solidFill>
                <a:latin typeface="Consolas"/>
              </a:rPr>
              <a:t>LDR X0, [X1]        ; load takes several cycles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F6C177"/>
                </a:solidFill>
                <a:latin typeface="Consolas"/>
              </a:rPr>
              <a:t>ADD X2, X0, X3       ; must WAIT for X0 -&gt; stall!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0E0E0"/>
                </a:solidFill>
                <a:latin typeface="Consolas"/>
              </a:rPr>
              <a:t>ADD X4, X5, X6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1417320"/>
            <a:ext cx="53949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50" b="1" i="0">
                <a:solidFill>
                  <a:srgbClr val="1F6F8B"/>
                </a:solidFill>
                <a:latin typeface="Calibri"/>
              </a:rPr>
              <a:t>Reordered (latency hidden)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783080"/>
            <a:ext cx="5394960" cy="13716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82512" y="1856232"/>
            <a:ext cx="5065776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F6C177"/>
                </a:solidFill>
                <a:latin typeface="Consolas"/>
              </a:rPr>
              <a:t>LDR X0, [X1]        ; load kicked off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F6C177"/>
                </a:solidFill>
                <a:latin typeface="Consolas"/>
              </a:rPr>
              <a:t>ADD X4, X5, X6       ; independent work fills the gap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F6C177"/>
                </a:solidFill>
                <a:latin typeface="Consolas"/>
              </a:rPr>
              <a:t>ADD X2, X0, X3       ; X0 is ready by now, no stall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333756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▸  </a:t>
            </a:r>
            <a:r>
              <a:rPr sz="1400">
                <a:solidFill>
                  <a:srgbClr val="242A37"/>
                </a:solidFill>
                <a:latin typeface="Calibri"/>
              </a:rPr>
              <a:t>Real hardware takes multiple cycles to produce a result (latency) - a load might take 3-5 cycles before the loaded value is usable.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▸  </a:t>
            </a:r>
            <a:r>
              <a:rPr sz="1400">
                <a:solidFill>
                  <a:srgbClr val="242A37"/>
                </a:solidFill>
                <a:latin typeface="Calibri"/>
              </a:rPr>
              <a:t>If the very next instruction needs that value immediately, the CPU (or the compiler, on simple in-order cores) must WAIT - a pipeline stall.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▸  </a:t>
            </a:r>
            <a:r>
              <a:rPr sz="1400">
                <a:solidFill>
                  <a:srgbClr val="242A37"/>
                </a:solidFill>
                <a:latin typeface="Calibri"/>
              </a:rPr>
              <a:t>If the compiler instead places independent, useful work in between, the wait is 'hidden' and no cycles are wasted.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400" b="1">
                <a:solidFill>
                  <a:srgbClr val="C0392B"/>
                </a:solidFill>
                <a:latin typeface="Calibri"/>
              </a:rPr>
              <a:t>▸  </a:t>
            </a:r>
            <a:r>
              <a:rPr sz="1400">
                <a:solidFill>
                  <a:srgbClr val="242A37"/>
                </a:solidFill>
                <a:latin typeface="Calibri"/>
              </a:rPr>
              <a:t>This reordering is exactly what LLVM's MachineScheduler pass does - and it needs to KNOW instruction latencies to do it well. That knowledge is the 'scheduling model' this deck explains.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llvm/lib/CodeGen/MachineScheduler.cpp (generic list scheduler)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1 - WHY SCHEDULING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In-Order vs Out-of-Order AArch64 CPUs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1124712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4206240"/>
                <a:gridCol w="4389120"/>
              </a:tblGrid>
              <a:tr h="566928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Characteristic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In-Order (e.g. Cortex-A55)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Out-of-Order (e.g. Cortex-A57 / Neoverse N1)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Execution order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Strictly program order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Can execute ready instructions early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Hides latency via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Compiler-chosen instruction order (critical!)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Hardware reordering (helps, but order still matters)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MicroOpBufferSize (LLVM field)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&gt; 0 (e.g. 128+ in-flight micro-ops)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Impact of a BAD schedule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Direct, visible stalls - big slowdown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Smaller impact, but still costs performance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4480560"/>
            <a:ext cx="1124712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1">
                <a:solidFill>
                  <a:srgbClr val="555B66"/>
                </a:solidFill>
                <a:latin typeface="Calibri"/>
              </a:rPr>
              <a:t>This is why AArch64 has DOZENS of scheduling models, one per CPU family (AArch64SchedA55.td, AArch64SchedA57.td, AArch64SchedNeoverseN1.td, ...).
The AArch64 core lineup spans tiny in-order cores (A55, A510) to wide out-of-order server cores (Neoverse V-series) - one generic model cannot describe them all accurately, so each gets its own scheduling description.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AArch64SchedA55.td (MicroOpBufferSize = 0); AArch64SchedNeoverseN1.td (MicroOpBufferSize &gt; 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1 - WHY SCHEDULING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Where Scheduling Fits in the LLVM Pipeline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566160" y="1325880"/>
            <a:ext cx="5029200" cy="566928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242A37"/>
                </a:solidFill>
                <a:latin typeface="Calibri"/>
              </a:rPr>
              <a:t>LLVM IR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80760.0" y="1892808"/>
            <a:ext cx="0.0" cy="146304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566160" y="2039112"/>
            <a:ext cx="5029200" cy="566928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242A37"/>
                </a:solidFill>
                <a:latin typeface="Calibri"/>
              </a:rPr>
              <a:t>Instruction Selection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60.0" y="2606040"/>
            <a:ext cx="0.0" cy="146304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3566160" y="2752344"/>
            <a:ext cx="5029200" cy="566928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242A37"/>
                </a:solidFill>
                <a:latin typeface="Calibri"/>
              </a:rPr>
              <a:t>MachineInstr
(virtual registers)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80760.0" y="3319272"/>
            <a:ext cx="0.0" cy="146304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566160" y="3465576"/>
            <a:ext cx="5029200" cy="56692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Pre-RA Scheduling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80760.0" y="4032504"/>
            <a:ext cx="0.0" cy="146304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566160" y="4178808"/>
            <a:ext cx="5029200" cy="566928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242A37"/>
                </a:solidFill>
                <a:latin typeface="Calibri"/>
              </a:rPr>
              <a:t>Register Allocation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6080760.0" y="4745736"/>
            <a:ext cx="0.0" cy="146304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566160" y="4892040"/>
            <a:ext cx="5029200" cy="566928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Post-RA Scheduling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080760.0" y="5458968"/>
            <a:ext cx="0.0" cy="146304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566160" y="5605272"/>
            <a:ext cx="5029200" cy="566928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242A37"/>
                </a:solidFill>
                <a:latin typeface="Calibri"/>
              </a:rPr>
              <a:t>MC / Assembly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1325880"/>
            <a:ext cx="2834640" cy="448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 i="0">
                <a:solidFill>
                  <a:srgbClr val="555B66"/>
                </a:solidFill>
                <a:latin typeface="Calibri"/>
              </a:rPr>
              <a:t>Scheduling happens TWICE:
1. Pre-RA (on virtual registers) - exposes instruction-level parallelism and manages register pressure.
2. Post-RA (on physical registers) - re-orders using the REAL hardware latencies/resources now that registers are final, and applies macro-fusion / clustering decisions.
Both passes consult the SAME per-CPU scheduling model.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llvm/lib/CodeGen/MachineScheduler.cpp (ScheduleDAGMILive); AArch64MachineScheduler.h (post-RA strategy)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1 - WHY SCHEDULING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What Exactly Is a “Scheduling Model”?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550" b="1" i="0">
                <a:solidFill>
                  <a:srgbClr val="C0392B"/>
                </a:solidFill>
                <a:latin typeface="Calibri"/>
              </a:rPr>
              <a:t>In one sentence: a per-CPU TableGen description that tells LLVM how long each instruction takes and which hardware units it uses, so the scheduler can choose a good order.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457200" y="2103120"/>
          <a:ext cx="11247120" cy="37490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8138160"/>
              </a:tblGrid>
              <a:tr h="416559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Building block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One-line meaning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SchedMachineModel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Top-level per-CPU record: issue width, buffer size, load latency, ...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ProcResource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A hardware pipeline/unit (ALU, load pipe, FP MAC, ...) and how many copies exist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SchedWrite / SchedRead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Generic, target-independent tags for 'what an instruction writes/reads'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WriteRes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Binds a SchedWrite to real ProcResource(s) + a Latency (cycles)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ReadAdvance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Models forwarding: an operand may be usable BEFORE full latency elapses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InstRW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Per-instruction (or regex) override of the default scheduling class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  <a:tr h="416559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SchedPredicate / SchedVariant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Conditional scheduling - cost depends on the instruction's operands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416567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Macro Fusion / Clustering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Extra scheduler rules: keep certain instruction pairs adjacent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This table is the roadmap for the rest of this deck - each row gets its own slide(s).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2 - CORE BUILDING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SchedMachineModel - The Per-CPU Profile Card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577840" cy="27432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490472"/>
            <a:ext cx="5248656" cy="2596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F6C177"/>
                </a:solidFill>
                <a:latin typeface="Consolas"/>
              </a:rPr>
              <a:t>def CortexA55Model : SchedMachineModel {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F6C177"/>
                </a:solidFill>
                <a:latin typeface="Consolas"/>
              </a:rPr>
              <a:t>  let MicroOpBufferSize = 0;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F6C177"/>
                </a:solidFill>
                <a:latin typeface="Consolas"/>
              </a:rPr>
              <a:t>  let IssueWidth = 2;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F6C177"/>
                </a:solidFill>
                <a:latin typeface="Consolas"/>
              </a:rPr>
              <a:t>  let LoadLatency = 4;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F6C177"/>
                </a:solidFill>
                <a:latin typeface="Consolas"/>
              </a:rPr>
              <a:t>  let MispredictPenalty = 8;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0E0E0"/>
                </a:solidFill>
                <a:latin typeface="Consolas"/>
              </a:rPr>
              <a:t>  let PostRAScheduler = 1;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0E0E0"/>
                </a:solidFill>
                <a:latin typeface="Consolas"/>
              </a:rPr>
              <a:t>  let CompleteModel = 0;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0E0E0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417320"/>
            <a:ext cx="544068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▸  </a:t>
            </a:r>
            <a:r>
              <a:rPr sz="1300">
                <a:solidFill>
                  <a:srgbClr val="242A37"/>
                </a:solidFill>
                <a:latin typeface="Calibri"/>
              </a:rPr>
              <a:t>IssueWidth - how many instructions can be DISPATCHED per cycle (A55 dual-issues: up to 2).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▸  </a:t>
            </a:r>
            <a:r>
              <a:rPr sz="1300">
                <a:solidFill>
                  <a:srgbClr val="242A37"/>
                </a:solidFill>
                <a:latin typeface="Calibri"/>
              </a:rPr>
              <a:t>MicroOpBufferSize - 0 means IN-ORDER (A55); a nonzero value models an out-of-order reorder buffer (bigger = more OOO scheduling window).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▸  </a:t>
            </a:r>
            <a:r>
              <a:rPr sz="1300">
                <a:solidFill>
                  <a:srgbClr val="242A37"/>
                </a:solidFill>
                <a:latin typeface="Calibri"/>
              </a:rPr>
              <a:t>LoadLatency - default cycles before a loaded value is usable, used when no more specific WriteRes/InstRW applies.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▸  </a:t>
            </a:r>
            <a:r>
              <a:rPr sz="1300">
                <a:solidFill>
                  <a:srgbClr val="242A37"/>
                </a:solidFill>
                <a:latin typeface="Calibri"/>
              </a:rPr>
              <a:t>MispredictPenalty - cycles wasted on a branch misprediction; feeds into decisions like tail duplication and branch-heavy code costs.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▸  </a:t>
            </a:r>
            <a:r>
              <a:rPr sz="1300">
                <a:solidFill>
                  <a:srgbClr val="242A37"/>
                </a:solidFill>
                <a:latin typeface="Calibri"/>
              </a:rPr>
              <a:t>PostRAScheduler - turns on the second (post-RA) scheduling pass for this CPU.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▸  </a:t>
            </a:r>
            <a:r>
              <a:rPr sz="1300">
                <a:solidFill>
                  <a:srgbClr val="242A37"/>
                </a:solidFill>
                <a:latin typeface="Calibri"/>
              </a:rPr>
              <a:t>CompleteModel - 0 means 'not every instruction has explicit timing yet' (fine - unmodeled ones fall back to reasonable defaults).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AArch64SchedA55.td: def CortexA55Model : SchedMachineModel { ... 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2 - CORE BUILDING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ProcResource - Modeling Hardware Pipelines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1" i="0">
                <a:solidFill>
                  <a:srgbClr val="C0392B"/>
                </a:solidFill>
                <a:latin typeface="Calibri"/>
              </a:rPr>
              <a:t>A ProcResource represents a real execution pipeline/unit and how many copies of it the CPU has.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965960"/>
            <a:ext cx="5486400" cy="192024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2039112"/>
            <a:ext cx="5157216" cy="1773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F6C177"/>
                </a:solidFill>
                <a:latin typeface="Consolas"/>
              </a:rPr>
              <a:t>def CortexA55UnitALU : ProcResource&lt;2&gt;;  // 2 ALUs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6C177"/>
                </a:solidFill>
                <a:latin typeface="Consolas"/>
              </a:rPr>
              <a:t>def CortexA55UnitMAC : ProcResource&lt;1&gt;;  // 1 multiplier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6C177"/>
                </a:solidFill>
                <a:latin typeface="Consolas"/>
              </a:rPr>
              <a:t>def CortexA55UnitDiv : ProcResource&lt;1&gt;;  // 1 divider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6C177"/>
                </a:solidFill>
                <a:latin typeface="Consolas"/>
              </a:rPr>
              <a:t>def CortexA55UnitLd  : ProcResource&lt;1&gt;;  // 1 load pipe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6C177"/>
                </a:solidFill>
                <a:latin typeface="Consolas"/>
              </a:rPr>
              <a:t>def CortexA55UnitSt  : ProcResource&lt;1&gt;;  // 1 store pipe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6C177"/>
                </a:solidFill>
                <a:latin typeface="Consolas"/>
              </a:rPr>
              <a:t>def CortexA55UnitB   : ProcResource&lt;1&gt;;  // 1 branch unit</a:t>
            </a:r>
          </a:p>
        </p:txBody>
      </p:sp>
      <p:sp>
        <p:nvSpPr>
          <p:cNvPr id="9" name="Rectangle 8"/>
          <p:cNvSpPr/>
          <p:nvPr/>
        </p:nvSpPr>
        <p:spPr>
          <a:xfrm>
            <a:off x="6263640" y="1920240"/>
            <a:ext cx="5440680" cy="3749039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011680"/>
            <a:ext cx="5029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  <a:latin typeface="Calibri"/>
              </a:rPr>
              <a:t>Cortex-A55 core (conceptual)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37960" y="2377440"/>
            <a:ext cx="4892040" cy="411480"/>
          </a:xfrm>
          <a:prstGeom prst="round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ALU x2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37960" y="2852928"/>
            <a:ext cx="4892040" cy="411480"/>
          </a:xfrm>
          <a:prstGeom prst="round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MAC x1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37960" y="3328416"/>
            <a:ext cx="4892040" cy="411480"/>
          </a:xfrm>
          <a:prstGeom prst="round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Div x1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37960" y="3803904"/>
            <a:ext cx="4892040" cy="41148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Load x1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537960" y="4279392"/>
            <a:ext cx="4892040" cy="41148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Store x1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37960" y="4754880"/>
            <a:ext cx="4892040" cy="411480"/>
          </a:xfrm>
          <a:prstGeom prst="roundRect">
            <a:avLst/>
          </a:prstGeom>
          <a:solidFill>
            <a:srgbClr val="242A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Branch x1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AArch64SchedA55.td: def CortexA55UnitALU/UnitMAC/UnitDiv/UnitLd/UnitSt/UnitB : ProcResource&lt;N&gt;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2 - CORE BUILDING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SchedWrite / SchedRead - Generic Instruction Tags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C0392B"/>
                </a:solidFill>
                <a:latin typeface="Calibri"/>
              </a:rPr>
              <a:t>SchedWrite/SchedRead are TARGET-INDEPENDENT labels describing WHAT an instruction does - not yet tied to any specific CPU's timing.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57400"/>
            <a:ext cx="11247120" cy="18288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2130552"/>
            <a:ext cx="10917936" cy="16824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F6C177"/>
                </a:solidFill>
                <a:latin typeface="Consolas"/>
              </a:rPr>
              <a:t>def WriteI     : SchedWrite; // ALU op (add, sub, ...)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F6C177"/>
                </a:solidFill>
                <a:latin typeface="Consolas"/>
              </a:rPr>
              <a:t>def WriteLD    : SchedWrite; // Load from base+offset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F6C177"/>
                </a:solidFill>
                <a:latin typeface="Consolas"/>
              </a:rPr>
              <a:t>def WriteST    : SchedWrite; // Store to base+offset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F6C177"/>
                </a:solidFill>
                <a:latin typeface="Consolas"/>
              </a:rPr>
              <a:t>def WriteIM32  : SchedWrite; // 32-bit multiply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F6C177"/>
                </a:solidFill>
                <a:latin typeface="Consolas"/>
              </a:rPr>
              <a:t>def ReadI      : SchedRead;  // reads an ALU-type operand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069080"/>
            <a:ext cx="112471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▸  </a:t>
            </a:r>
            <a:r>
              <a:rPr sz="1350">
                <a:solidFill>
                  <a:srgbClr val="242A37"/>
                </a:solidFill>
                <a:latin typeface="Calibri"/>
              </a:rPr>
              <a:t>Every AArch64 instruction pattern in AArch64InstrInfo.td is tagged with one (or more) of these SchedWrite names via 'Sched&lt;[...]&gt;'.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▸  </a:t>
            </a:r>
            <a:r>
              <a:rPr sz="1350">
                <a:solidFill>
                  <a:srgbClr val="242A37"/>
                </a:solidFill>
                <a:latin typeface="Calibri"/>
              </a:rPr>
              <a:t>Each per-CPU file (AArch64SchedA55.td, AArch64SchedA57.td, ...) then supplies a WriteRes binding turning the GENERIC tag into a REAL latency for that CPU.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▸  </a:t>
            </a:r>
            <a:r>
              <a:rPr sz="1350">
                <a:solidFill>
                  <a:srgbClr val="242A37"/>
                </a:solidFill>
                <a:latin typeface="Calibri"/>
              </a:rPr>
              <a:t>This separation is the key design idea: instructions are tagged ONCE, generically; each CPU model fills in its own numbers.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AArch64Schedule.td: def WriteI/WriteLD/WriteST/... : SchedWrite;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2 - CORE BUILDING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WriteRes - Tying a SchedWrite to Real Hardware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71600"/>
            <a:ext cx="3108960" cy="7772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242A37"/>
                </a:solidFill>
                <a:latin typeface="Calibri"/>
              </a:rPr>
              <a:t>WriteI
(generic tag)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566160" y="1755648"/>
            <a:ext cx="731520" cy="0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297680" y="1371600"/>
            <a:ext cx="3291840" cy="77724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WriteRes&lt;WriteI,
[CortexA55UnitALU]&gt;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589520" y="1755648"/>
            <a:ext cx="731520" cy="0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8321040" y="1371600"/>
            <a:ext cx="3383280" cy="777240"/>
          </a:xfrm>
          <a:prstGeom prst="round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Latency = 3 cycles
on CortexA55UnitALU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514600"/>
            <a:ext cx="11247120" cy="173736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" y="2587752"/>
            <a:ext cx="10917936" cy="1591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00">
                <a:solidFill>
                  <a:srgbClr val="E0E0E0"/>
                </a:solidFill>
                <a:latin typeface="Consolas"/>
              </a:rPr>
              <a:t>let SchedModel = CortexA55Model in {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F6C177"/>
                </a:solidFill>
                <a:latin typeface="Consolas"/>
              </a:rPr>
              <a:t>  def : WriteRes&lt;WriteI, [CortexA55UnitALU]&gt; { let Latency = 3; }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F6C177"/>
                </a:solidFill>
                <a:latin typeface="Consolas"/>
              </a:rPr>
              <a:t>  def : WriteRes&lt;WriteLD, [CortexA55UnitLd]&gt; { let Latency = 4; }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F6C177"/>
                </a:solidFill>
                <a:latin typeface="Consolas"/>
              </a:rPr>
              <a:t>  def : WriteRes&lt;WriteID32, [CortexA55UnitDiv]&gt; {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F6C177"/>
                </a:solidFill>
                <a:latin typeface="Consolas"/>
              </a:rPr>
              <a:t>    let Latency = 8; let ReleaseAtCycles = [8];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0E0E0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1400">
                <a:solidFill>
                  <a:srgbClr val="E0E0E0"/>
                </a:solidFill>
                <a:latin typeface="Consolas"/>
              </a:rPr>
              <a:t>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434840"/>
            <a:ext cx="11247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▸  </a:t>
            </a:r>
            <a:r>
              <a:rPr sz="1300">
                <a:solidFill>
                  <a:srgbClr val="242A37"/>
                </a:solidFill>
                <a:latin typeface="Calibri"/>
              </a:rPr>
              <a:t>Latency: cycles until the RESULT is ready for a dependent instruction to consume.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▸  </a:t>
            </a:r>
            <a:r>
              <a:rPr sz="1300">
                <a:solidFill>
                  <a:srgbClr val="242A37"/>
                </a:solidFill>
                <a:latin typeface="Calibri"/>
              </a:rPr>
              <a:t>ReleaseAtCycles: how many cycles the resource itself stays BUSY (occupancy) - e.g. an 8-cycle divide occupies the divider for all 8 cycles, blocking back-to-back divides.</a:t>
            </a:r>
          </a:p>
          <a:p>
            <a:pPr>
              <a:lnSpc>
                <a:spcPct val="105000"/>
              </a:lnSpc>
              <a:spcAft>
                <a:spcPts val="6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▸  </a:t>
            </a:r>
            <a:r>
              <a:rPr sz="1300">
                <a:solidFill>
                  <a:srgbClr val="242A37"/>
                </a:solidFill>
                <a:latin typeface="Calibri"/>
              </a:rPr>
              <a:t>A WriteRes can also list MULTIPLE resources, e.g. [CortexA55UnitFPALU, CortexA55UnitFPALU] for an op that needs two pipeline slots (models 128-bit vector ops split over 64-bit lanes).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AArch64SchedA55.td: def : WriteRes&lt;WriteI, [CortexA55UnitALU]&gt; { let Latency = 3; 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2 - CORE BUILDING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ReadAdvance - Modeling Operand Forwarding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C0392B"/>
                </a:solidFill>
                <a:latin typeface="Calibri"/>
              </a:rPr>
              <a:t>Not every operand needs to wait for the FULL latency - fast paths inside the CPU can 'forward' a result early.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57400"/>
            <a:ext cx="5486400" cy="118872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2130552"/>
            <a:ext cx="5157216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50">
                <a:solidFill>
                  <a:srgbClr val="F6C177"/>
                </a:solidFill>
                <a:latin typeface="Consolas"/>
              </a:rPr>
              <a:t>def : ReadAdvance&lt;ReadI, 2, [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  WriteImm, WriteI, WriteISReg, ...]&gt;;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057400"/>
            <a:ext cx="544068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 i="1">
                <a:solidFill>
                  <a:srgbClr val="242A37"/>
                </a:solidFill>
                <a:latin typeface="Calibri"/>
              </a:rPr>
              <a:t>“A ReadI operand becomes available 2 cycles EARLIER than the full producer latency would suggest, if the producer was one of these WriteI-family ops.”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3520440"/>
            <a:ext cx="112471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50" b="0" i="0">
                <a:solidFill>
                  <a:srgbClr val="555B66"/>
                </a:solidFill>
                <a:latin typeface="Consolas"/>
              </a:rPr>
              <a:t>        cycle 1   cycle 2   cycle 3   cycle 4   cycle 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88620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42A37"/>
                </a:solidFill>
                <a:latin typeface="Calibri"/>
              </a:rPr>
              <a:t>Producer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828800" y="3931920"/>
            <a:ext cx="4114800" cy="274320"/>
          </a:xfrm>
          <a:prstGeom prst="rect">
            <a:avLst/>
          </a:prstGeom>
          <a:solidFill>
            <a:srgbClr val="1F6F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4206240"/>
            <a:ext cx="41148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00" b="0" i="1">
                <a:solidFill>
                  <a:srgbClr val="555B66"/>
                </a:solidFill>
                <a:latin typeface="Calibri"/>
              </a:rPr>
              <a:t>full latency = 3 cycles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617720"/>
            <a:ext cx="1371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242A37"/>
                </a:solidFill>
                <a:latin typeface="Calibri"/>
              </a:rPr>
              <a:t>Consumer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0" y="4663440"/>
            <a:ext cx="822960" cy="27432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160520" y="461772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0" i="1">
                <a:solidFill>
                  <a:srgbClr val="C0392B"/>
                </a:solidFill>
                <a:latin typeface="Calibri"/>
              </a:rPr>
              <a:t>← can start here thanks to ReadAdvance forwarding (2 cycles early)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AArch64SchedA55.td: def : ReadAdvance&lt;ReadI, 2, [WriteImm, WriteI, ...]&gt;;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2 - CORE BUILDING BLOCKS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From TableGen to a Concrete Schedule: Full Journey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371600"/>
            <a:ext cx="10332720" cy="621792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50" b="1">
                <a:solidFill>
                  <a:srgbClr val="242A37"/>
                </a:solidFill>
                <a:latin typeface="Calibri"/>
              </a:rPr>
              <a:t>AArch64InstrInfo.td: instruction 'ADDWrr' is tagged Sched&lt;[WriteI, ReadI, ReadI]&gt;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080760.0" y="1993392"/>
            <a:ext cx="0.0" cy="128016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914400" y="2121408"/>
            <a:ext cx="10332720" cy="621792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50" b="1">
                <a:solidFill>
                  <a:srgbClr val="242A37"/>
                </a:solidFill>
                <a:latin typeface="Calibri"/>
              </a:rPr>
              <a:t>AArch64Schedule.td: WriteI/ReadI are generic SchedWrite/SchedRead tags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60.0" y="2743200"/>
            <a:ext cx="0.0" cy="128016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914400" y="2871216"/>
            <a:ext cx="10332720" cy="621792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50" b="1">
                <a:solidFill>
                  <a:srgbClr val="FFFFFF"/>
                </a:solidFill>
                <a:latin typeface="Calibri"/>
              </a:rPr>
              <a:t>AArch64SchedA55.td: WriteRes&lt;WriteI,[CortexA55UnitALU]&gt; {Latency=3} binds it for the A55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80760.0" y="3493008"/>
            <a:ext cx="0.0" cy="128016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14400" y="3621024"/>
            <a:ext cx="10332720" cy="621792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50" b="1">
                <a:solidFill>
                  <a:srgbClr val="242A37"/>
                </a:solidFill>
                <a:latin typeface="Calibri"/>
              </a:rPr>
              <a:t>TableGen backend generates AArch64GenSubtargetInfo.inc with the final tables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80760.0" y="4242816"/>
            <a:ext cx="0.0" cy="128016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914400" y="4370832"/>
            <a:ext cx="10332720" cy="621792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50" b="1">
                <a:solidFill>
                  <a:srgbClr val="242A37"/>
                </a:solidFill>
                <a:latin typeface="Calibri"/>
              </a:rPr>
              <a:t>MachineScheduler reads those tables via TargetSchedModel to compute stalls/height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AArch64InstrInfo.td (Sched&lt;&gt; on instructions); AArch64Schedule.td; AArch64SchedA55.td; TargetSchedModel.h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3 - OVERRIDES &amp; FUSION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InstRW - Overriding the Default for Specific Instructions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C0392B"/>
                </a:solidFill>
                <a:latin typeface="Calibri"/>
              </a:rPr>
              <a:t>Sometimes ONE instruction (or a family matched by regex) needs its own timing instead of the generic SchedWrite default.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57400"/>
            <a:ext cx="11247120" cy="155448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2130552"/>
            <a:ext cx="10917936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F6C177"/>
                </a:solidFill>
                <a:latin typeface="Consolas"/>
              </a:rPr>
              <a:t>def : InstRW&lt;[CortexA55WriteVLD2], (instregex "LD2i(8|16|32|64)$")&gt;;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F6C177"/>
                </a:solidFill>
                <a:latin typeface="Consolas"/>
              </a:rPr>
              <a:t>def : InstRW&lt;[CortexA55WriteVLD4], (instregex "LD1Twov(16b|8h|4s|2d)$")&gt;;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F6C177"/>
                </a:solidFill>
                <a:latin typeface="Consolas"/>
              </a:rPr>
              <a:t>def : InstRW&lt;[WriteI], (instrs COPY)&gt;;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794760"/>
            <a:ext cx="112471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▸  </a:t>
            </a:r>
            <a:r>
              <a:rPr sz="1350">
                <a:solidFill>
                  <a:srgbClr val="242A37"/>
                </a:solidFill>
                <a:latin typeface="Calibri"/>
              </a:rPr>
              <a:t>First argument: a list of SchedWrite-like classes describing the override (can be a plain WriteRes name or a custom SchedWriteRes defined just for this).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▸  </a:t>
            </a:r>
            <a:r>
              <a:rPr sz="1350">
                <a:solidFill>
                  <a:srgbClr val="242A37"/>
                </a:solidFill>
                <a:latin typeface="Calibri"/>
              </a:rPr>
              <a:t>Second argument: which instructions this applies to - by exact name (instrs) or by regular expression over the mnemonic (instregex).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▸  </a:t>
            </a:r>
            <a:r>
              <a:rPr sz="1350">
                <a:solidFill>
                  <a:srgbClr val="242A37"/>
                </a:solidFill>
                <a:latin typeface="Calibri"/>
              </a:rPr>
              <a:t>Extremely common for vector load/store instructions, where the exact number of registers/lanes changes the real latency substantially.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AArch64SchedA55.td: def : InstRW&lt;[...], (instregex "...")&gt;; (dozens of examples)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3 - OVERRIDES &amp; FUSION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SchedVariant / SchedPredicate - Conditional Timing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500" b="1" i="0">
                <a:solidFill>
                  <a:srgbClr val="C0392B"/>
                </a:solidFill>
                <a:latin typeface="Calibri"/>
              </a:rPr>
              <a:t>Some instructions cost DIFFERENT amounts depending on their operands (e.g. a shifted-register operand vs. a plain register).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11247120" cy="210312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2084832"/>
            <a:ext cx="10917936" cy="19568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450">
                <a:solidFill>
                  <a:srgbClr val="F6C177"/>
                </a:solidFill>
                <a:latin typeface="Consolas"/>
              </a:rPr>
              <a:t>def CortexA55ReadISReg : SchedReadVariant&lt;[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F6C177"/>
                </a:solidFill>
                <a:latin typeface="Consolas"/>
              </a:rPr>
              <a:t>    SchedVar&lt;RegShiftedPred,   [CortexA55ReadShifted]&gt;,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F6C177"/>
                </a:solidFill>
                <a:latin typeface="Consolas"/>
              </a:rPr>
              <a:t>    SchedVar&lt;NoSchedPred,      [CortexA55ReadNotShifted]&gt;]&gt;;</a:t>
            </a:r>
          </a:p>
          <a:p>
            <a:pPr>
              <a:spcAft>
                <a:spcPts val="200"/>
              </a:spcAft>
            </a:pPr>
            <a:r>
              <a:rPr sz="1450">
                <a:solidFill>
                  <a:srgbClr val="F6C177"/>
                </a:solidFill>
                <a:latin typeface="Consolas"/>
              </a:rPr>
              <a:t>def : SchedAlias&lt;ReadISReg, CortexA55ReadISReg&gt;;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251960"/>
            <a:ext cx="112471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▸  </a:t>
            </a:r>
            <a:r>
              <a:rPr sz="1300">
                <a:solidFill>
                  <a:srgbClr val="242A37"/>
                </a:solidFill>
                <a:latin typeface="Calibri"/>
              </a:rPr>
              <a:t>SchedVar pairs a Predicate (a C++ check on the MachineInstr, e.g. 'does this ADD have a shift amount?') with the SchedReadAdvance to use if that predicate is true.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▸  </a:t>
            </a:r>
            <a:r>
              <a:rPr sz="1300">
                <a:solidFill>
                  <a:srgbClr val="242A37"/>
                </a:solidFill>
                <a:latin typeface="Calibri"/>
              </a:rPr>
              <a:t>The list is checked IN ORDER, first match wins - NoSchedPred is the catch-all/default case at the end.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▸  </a:t>
            </a:r>
            <a:r>
              <a:rPr sz="1300">
                <a:solidFill>
                  <a:srgbClr val="242A37"/>
                </a:solidFill>
                <a:latin typeface="Calibri"/>
              </a:rPr>
              <a:t>This lets ONE instruction opcode (like ADDWrs) have accurate timing whether or not its shift operand is actually used.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AArch64SchedA55.td: SchedReadVariant / SchedVar / RegShiftedPred; AArch64SchedPredicates.td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3 - OVERRIDES &amp; FUSION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Macro Fusion - Keeping Instruction Pairs Adjacent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C0392B"/>
                </a:solidFill>
                <a:latin typeface="Calibri"/>
              </a:rPr>
              <a:t>Some AArch64 CPUs execute certain BACK-TO-BACK instruction pairs as if they were a single, faster operation - but ONLY if they stay adjacent.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2011680"/>
            <a:ext cx="3291840" cy="68580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CMP  X0, X1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2011680"/>
            <a:ext cx="3291840" cy="685800"/>
          </a:xfrm>
          <a:prstGeom prst="round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500" b="1">
                <a:solidFill>
                  <a:srgbClr val="FFFFFF"/>
                </a:solidFill>
                <a:latin typeface="Calibri"/>
              </a:rPr>
              <a:t>B.EQ  target</a:t>
            </a:r>
          </a:p>
        </p:txBody>
      </p:sp>
      <p:sp>
        <p:nvSpPr>
          <p:cNvPr id="9" name="Rectangle 8"/>
          <p:cNvSpPr/>
          <p:nvPr/>
        </p:nvSpPr>
        <p:spPr>
          <a:xfrm>
            <a:off x="4343400" y="2011680"/>
            <a:ext cx="91440" cy="6858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834640"/>
            <a:ext cx="6675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 i="1">
                <a:solidFill>
                  <a:srgbClr val="C0392B"/>
                </a:solidFill>
                <a:latin typeface="Calibri"/>
              </a:rPr>
              <a:t>fused pair - scheduler must NOT separate these two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383280"/>
            <a:ext cx="1124712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▸  </a:t>
            </a:r>
            <a:r>
              <a:rPr sz="1350">
                <a:solidFill>
                  <a:srgbClr val="242A37"/>
                </a:solidFill>
                <a:latin typeface="Calibri"/>
              </a:rPr>
              <a:t>Examples modeled in AArch64MacroFusion.cpp: CMP+Bcc, ADRP+ADD (address generation), AES encode/decode chains, compare+CSEL, arithmetic+logic pairs.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▸  </a:t>
            </a:r>
            <a:r>
              <a:rPr sz="1350">
                <a:solidFill>
                  <a:srgbClr val="242A37"/>
                </a:solidFill>
                <a:latin typeface="Calibri"/>
              </a:rPr>
              <a:t>Each fusion is gated by a SubtargetFeature (e.g. FeatureFuseAdrpAdd, FeatureFuseAES) so only CPUs that actually benefit enable it.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▸  </a:t>
            </a:r>
            <a:r>
              <a:rPr sz="1350">
                <a:solidFill>
                  <a:srgbClr val="242A37"/>
                </a:solidFill>
                <a:latin typeface="Calibri"/>
              </a:rPr>
              <a:t>Implemented as a ScheduleDAGMutation: shouldScheduleAdjacent() inspects a candidate pair and, if it matches a fusable pattern, forces the scheduler to keep them next to each other.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AArch64MacroFusion.cpp: shouldScheduleAdjacent(); AArch64Processors.td: FeatureFuseAdrpAdd/FeatureFuseAES/...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3 - OVERRIDES &amp; FUSION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Load/Store Clustering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417320"/>
            <a:ext cx="112471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450" b="1" i="0">
                <a:solidFill>
                  <a:srgbClr val="C0392B"/>
                </a:solidFill>
                <a:latin typeface="Calibri"/>
              </a:rPr>
              <a:t>Clustering nudges the scheduler to group nearby memory accesses together - helping the CPU's memory system and later LDP/STP pairing passes.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011680"/>
            <a:ext cx="5486400" cy="146304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1792" y="2084832"/>
            <a:ext cx="5157216" cy="13167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00">
                <a:solidFill>
                  <a:srgbClr val="F6C177"/>
                </a:solidFill>
                <a:latin typeface="Consolas"/>
              </a:rPr>
              <a:t>LDR X0, [X1, #0]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F6C177"/>
                </a:solidFill>
                <a:latin typeface="Consolas"/>
              </a:rPr>
              <a:t>LDR X2, [X1, #8]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0E0E0"/>
                </a:solidFill>
                <a:latin typeface="Consolas"/>
              </a:rPr>
              <a:t>  ; scheduler keeps these adjacent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0E0E0"/>
                </a:solidFill>
                <a:latin typeface="Consolas"/>
              </a:rPr>
              <a:t>  ; -&gt; AArch64LoadStoreOptimizer can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E0E0E0"/>
                </a:solidFill>
                <a:latin typeface="Consolas"/>
              </a:rPr>
              <a:t>  ;    later fuse them into LDP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011680"/>
            <a:ext cx="5440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▸  </a:t>
            </a:r>
            <a:r>
              <a:rPr sz="1300">
                <a:solidFill>
                  <a:srgbClr val="242A37"/>
                </a:solidFill>
                <a:latin typeface="Calibri"/>
              </a:rPr>
              <a:t>createLoadClusterDAGMutation() / createStoreClusterDAGMutation() add DAG edges biasing the scheduler toward grouping same-base-register accesses.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▸  </a:t>
            </a:r>
            <a:r>
              <a:rPr sz="1300">
                <a:solidFill>
                  <a:srgbClr val="242A37"/>
                </a:solidFill>
                <a:latin typeface="Calibri"/>
              </a:rPr>
              <a:t>This is a SEPARATE mechanism from macro fusion - clustering is a soft preference, not a hard adjacency requirement.</a:t>
            </a:r>
          </a:p>
          <a:p>
            <a:pPr>
              <a:lnSpc>
                <a:spcPct val="105000"/>
              </a:lnSpc>
              <a:spcAft>
                <a:spcPts val="700"/>
              </a:spcAft>
            </a:pPr>
            <a:r>
              <a:rPr sz="1300" b="1">
                <a:solidFill>
                  <a:srgbClr val="C0392B"/>
                </a:solidFill>
                <a:latin typeface="Calibri"/>
              </a:rPr>
              <a:t>▸  </a:t>
            </a:r>
            <a:r>
              <a:rPr sz="1300">
                <a:solidFill>
                  <a:srgbClr val="242A37"/>
                </a:solidFill>
                <a:latin typeface="Calibri"/>
              </a:rPr>
              <a:t>Clustering pairs up nicely with the later AArch64LoadStoreOptimizer pass, which turns adjacent LDR/STR pairs into LDP/STP where legal - fewer instructions, better memory throughput.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llvm/lib/CodeGen/MachineScheduler.cpp: createLoadClusterDAGMutation/createStoreClusterDAGMutation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3 - OVERRIDES &amp; FUSION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AArch64PostRASchedStrategy - Custom Post-RA Tie-Breaking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47120" cy="13716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490472"/>
            <a:ext cx="10917936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500">
                <a:solidFill>
                  <a:srgbClr val="F6C177"/>
                </a:solidFill>
                <a:latin typeface="Consolas"/>
              </a:rPr>
              <a:t>class AArch64PostRASchedStrategy : public PostGenericScheduler {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F6C177"/>
                </a:solidFill>
                <a:latin typeface="Consolas"/>
              </a:rPr>
              <a:t>  bool tryCandidate(SchedCandidate &amp;Cand, SchedCandidate &amp;TryCand) override;</a:t>
            </a:r>
          </a:p>
          <a:p>
            <a:pPr>
              <a:spcAft>
                <a:spcPts val="200"/>
              </a:spcAft>
            </a:pPr>
            <a:r>
              <a:rPr sz="1500">
                <a:solidFill>
                  <a:srgbClr val="E0E0E0"/>
                </a:solidFill>
                <a:latin typeface="Consolas"/>
              </a:rPr>
              <a:t>};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017520"/>
            <a:ext cx="112471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▸  </a:t>
            </a:r>
            <a:r>
              <a:rPr sz="1350">
                <a:solidFill>
                  <a:srgbClr val="242A37"/>
                </a:solidFill>
                <a:latin typeface="Calibri"/>
              </a:rPr>
              <a:t>AArch64 overrides the generic PostGenericScheduler's tryCandidate() to add AArch64-specific tie-breaking heuristics for the POST-register-allocation scheduling pass.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▸  </a:t>
            </a:r>
            <a:r>
              <a:rPr sz="1350">
                <a:solidFill>
                  <a:srgbClr val="242A37"/>
                </a:solidFill>
                <a:latin typeface="Calibri"/>
              </a:rPr>
              <a:t>This is where hardware-real physical-register scheduling happens - the pass now knows the FINAL registers, so it can make final decisions about macro fusion, clustering, and resource conflicts precisely.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▸  </a:t>
            </a:r>
            <a:r>
              <a:rPr sz="1350">
                <a:solidFill>
                  <a:srgbClr val="242A37"/>
                </a:solidFill>
                <a:latin typeface="Calibri"/>
              </a:rPr>
              <a:t>It plugs into the generic MachineScheduler framework (ScheduleDAGMI) via the AArch64Subtarget's createPostMachineScheduler() hook.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AArch64MachineScheduler.h/.cpp: AArch64PostRASchedStrategy::tryCandidate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3 - OVERRIDES &amp; FUSION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UnsupportedFeatures &amp; CompleteModel - Honesty in Modeling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5486400" cy="118872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490472"/>
            <a:ext cx="5157216" cy="10424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def CortexA55Model : SchedMachineModel {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  ...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F6C177"/>
                </a:solidFill>
                <a:latin typeface="Consolas"/>
              </a:rPr>
              <a:t>  list&lt;Predicate&gt; UnsupportedFeatures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F6C177"/>
                </a:solidFill>
                <a:latin typeface="Consolas"/>
              </a:rPr>
              <a:t>     = [HasSVE, HasMTE];</a:t>
            </a:r>
          </a:p>
          <a:p>
            <a:pPr>
              <a:spcAft>
                <a:spcPts val="200"/>
              </a:spcAft>
            </a:pPr>
            <a:r>
              <a:rPr sz="1350">
                <a:solidFill>
                  <a:srgbClr val="E0E0E0"/>
                </a:solidFill>
                <a:latin typeface="Consolas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417320"/>
            <a:ext cx="544068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▸  </a:t>
            </a:r>
            <a:r>
              <a:rPr sz="1350">
                <a:solidFill>
                  <a:srgbClr val="242A37"/>
                </a:solidFill>
                <a:latin typeface="Calibri"/>
              </a:rPr>
              <a:t>UnsupportedFeatures tells LLVM 'this scheduling model does not attempt to cover SVE or MTE instructions' - avoids silently giving wrong numbers for features the CPU model author didn't measure.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▸  </a:t>
            </a:r>
            <a:r>
              <a:rPr sz="1350">
                <a:solidFill>
                  <a:srgbClr val="242A37"/>
                </a:solidFill>
                <a:latin typeface="Calibri"/>
              </a:rPr>
              <a:t>CompleteModel = 0 is a similar honesty flag at the whole-model level: 'not every instruction here has an explicit WriteRes/InstRW entry yet'.</a:t>
            </a:r>
          </a:p>
          <a:p>
            <a:pPr>
              <a:lnSpc>
                <a:spcPct val="105000"/>
              </a:lnSpc>
              <a:spcAft>
                <a:spcPts val="800"/>
              </a:spcAft>
            </a:pPr>
            <a:r>
              <a:rPr sz="1350" b="1">
                <a:solidFill>
                  <a:srgbClr val="C0392B"/>
                </a:solidFill>
                <a:latin typeface="Calibri"/>
              </a:rPr>
              <a:t>▸  </a:t>
            </a:r>
            <a:r>
              <a:rPr sz="1350">
                <a:solidFill>
                  <a:srgbClr val="242A37"/>
                </a:solidFill>
                <a:latin typeface="Calibri"/>
              </a:rPr>
              <a:t>Unmodeled instructions fall back to a generic default cost rather than causing a hard TableGen error - useful during incremental model development.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572000"/>
            <a:ext cx="1124712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350" b="0" i="1">
                <a:solidFill>
                  <a:srgbClr val="555B66"/>
                </a:solidFill>
                <a:latin typeface="Calibri"/>
              </a:rPr>
              <a:t>Takeaway: scheduling models are living documents, refined CPU-by-CPU and instruction-by-instruction as real silicon measurements become available - they are never expected to be 100% complete on day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AArch64SchedA55.td: UnsupportedFeatures / CompleteModel fields on SchedMachineModel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4 - PUTTING IT ALL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Where CPU Models Are Selected: -mcpu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417320"/>
            <a:ext cx="11247120" cy="914400"/>
          </a:xfrm>
          <a:prstGeom prst="rect">
            <a:avLst/>
          </a:prstGeom>
          <a:solidFill>
            <a:srgbClr val="1E1E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21792" y="1490472"/>
            <a:ext cx="10917936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</a:pPr>
            <a:r>
              <a:rPr sz="1600">
                <a:solidFill>
                  <a:srgbClr val="F6C177"/>
                </a:solidFill>
                <a:latin typeface="Consolas"/>
              </a:rPr>
              <a:t>clang -O2 -mcpu=cortex-a55 file.c -S -o file.s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194560" y="2468880"/>
            <a:ext cx="7772400" cy="5486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242A37"/>
                </a:solidFill>
                <a:latin typeface="Calibri"/>
              </a:rPr>
              <a:t>-mcpu=cortex-a55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6080760.0" y="3017520"/>
            <a:ext cx="0.0" cy="137160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2194560" y="3154680"/>
            <a:ext cx="7772400" cy="5486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242A37"/>
                </a:solidFill>
                <a:latin typeface="Calibri"/>
              </a:rPr>
              <a:t>ProcessorModel in AArch64Processors.td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080760.0" y="3703320"/>
            <a:ext cx="0.0" cy="137160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2194560" y="3840480"/>
            <a:ext cx="7772400" cy="548640"/>
          </a:xfrm>
          <a:prstGeom prst="round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SchedMachineModel = CortexA55Model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080760.0" y="4389120"/>
            <a:ext cx="0.0" cy="137160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2194560" y="4526280"/>
            <a:ext cx="7772400" cy="54864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400" b="1">
                <a:solidFill>
                  <a:srgbClr val="242A37"/>
                </a:solidFill>
                <a:latin typeface="Calibri"/>
              </a:rPr>
              <a:t>TargetSchedModel used by both schedulers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5257800"/>
            <a:ext cx="112471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0" i="0">
                <a:solidFill>
                  <a:srgbClr val="1F6F8B"/>
                </a:solidFill>
                <a:latin typeface="Consolas"/>
              </a:rPr>
              <a:t>def : ProcessorModel&lt;"cortex-a55", CortexA55Model, ProcessorFeatures.A55, [TuneA55]&gt;;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AArch64Processors.td: def : ProcessorModel&lt;"cortex-a55", CortexA55Model, ...&gt;;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4 - PUTTING IT ALL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Complete Mini Walkthrough: One ADD Instruction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325880"/>
            <a:ext cx="502920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508760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134416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F6F8B"/>
                </a:solidFill>
                <a:latin typeface="Calibri"/>
              </a:rPr>
              <a:t>AArch64InstrInfo.td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61848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242A37"/>
                </a:solidFill>
                <a:latin typeface="Consolas"/>
              </a:rPr>
              <a:t>def ADDWrr : ... { let Sched = [WriteI, ReadI, ReadI]; }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194560"/>
            <a:ext cx="502920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2377440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" y="221284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F6F8B"/>
                </a:solidFill>
                <a:latin typeface="Calibri"/>
              </a:rPr>
              <a:t>AArch64Schedule.td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248716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242A37"/>
                </a:solidFill>
                <a:latin typeface="Consolas"/>
              </a:rPr>
              <a:t>def WriteI : SchedWrite;  def ReadI : SchedRead;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063240"/>
            <a:ext cx="502920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" y="3246120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308152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F6F8B"/>
                </a:solidFill>
                <a:latin typeface="Calibri"/>
              </a:rPr>
              <a:t>AArch64SchedA55.td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335584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242A37"/>
                </a:solidFill>
                <a:latin typeface="Consolas"/>
              </a:rPr>
              <a:t>def : WriteRes&lt;WriteI, [CortexA55UnitALU]&gt; { let Latency = 3; }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3931920"/>
            <a:ext cx="502920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114800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95020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F6F8B"/>
                </a:solidFill>
                <a:latin typeface="Calibri"/>
              </a:rPr>
              <a:t>AArch64SchedA55.td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7280" y="422452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242A37"/>
                </a:solidFill>
                <a:latin typeface="Consolas"/>
              </a:rPr>
              <a:t>def : ReadAdvance&lt;ReadI, 2, [WriteI, ...]&gt;;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57200" y="4800600"/>
            <a:ext cx="502920" cy="7772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983480"/>
            <a:ext cx="502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97280" y="4818888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00" b="1" i="0">
                <a:solidFill>
                  <a:srgbClr val="1F6F8B"/>
                </a:solidFill>
                <a:latin typeface="Calibri"/>
              </a:rPr>
              <a:t>MachineScheduler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7280" y="509320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250" b="0" i="0">
                <a:solidFill>
                  <a:srgbClr val="242A37"/>
                </a:solidFill>
                <a:latin typeface="Consolas"/>
              </a:rPr>
              <a:t>Sees: ADD costs 3 cycles, but a WriteI-family operand can feed it 2 cycles early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Composite of AArch64InstrInfo.td, AArch64Schedule.td, AArch64SchedA55.td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4 - PUTTING IT ALL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Cheat Sheet: Which File Do I Touch?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1124712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5486400"/>
              </a:tblGrid>
              <a:tr h="525780"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I want to...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400">
                          <a:solidFill>
                            <a:srgbClr val="FFFFFF"/>
                          </a:solidFill>
                          <a:latin typeface="Calibri"/>
                        </a:rPr>
                        <a:t>Edit this file</a:t>
                      </a:r>
                    </a:p>
                  </a:txBody>
                  <a:tcPr anchor="ctr" marL="73152" marR="73152">
                    <a:solidFill>
                      <a:srgbClr val="1B2A4A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Add a brand-new generic 'kind of operation' tag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AArch64Schedule.td (new SchedWrite/SchedRead)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Tune latency/resources for one specific CPU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AArch64Sched&lt;CPU&gt;.td (WriteRes / InstRW)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Fix timing for one instruction on one CPU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AArch64Sched&lt;CPU&gt;.td (InstRW with instrs/instregex)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Add a new fusable instruction pair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AArch64MacroFusion.cpp + FeatureFuse* in AArch64Processors.td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Register a brand-new CPU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AArch64Processors.td (new SchedMachineModel + ProcessorModel)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Change post-RA scheduling heuristics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AArch64MachineScheduler.h/.cpp</a:t>
                      </a:r>
                    </a:p>
                  </a:txBody>
                  <a:tcPr anchor="ctr" marL="73152" marR="73152">
                    <a:solidFill>
                      <a:srgbClr val="F4F5F7"/>
                    </a:solidFill>
                  </a:tcPr>
                </a:tc>
              </a:tr>
              <a:tr h="525780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Add conditional (operand-dependent) timing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42A37"/>
                          </a:solidFill>
                          <a:latin typeface="Calibri"/>
                        </a:rPr>
                        <a:t>AArch64SchedPredicates.td + SchedVariant in the CPU file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Summary mapping of common tasks to their AArch64 scheduling source files.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810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73152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200" b="1" i="0">
                <a:solidFill>
                  <a:srgbClr val="B8C2D9"/>
                </a:solidFill>
                <a:latin typeface="Calibri"/>
              </a:rPr>
              <a:t>SECTION 4 - PUTTING IT ALL TOGETHER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10896"/>
            <a:ext cx="112471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Final Mental Model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280160"/>
            <a:ext cx="4572000" cy="50292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50" b="1">
                <a:solidFill>
                  <a:srgbClr val="242A37"/>
                </a:solidFill>
                <a:latin typeface="Calibri"/>
              </a:rPr>
              <a:t>Instruction has a
SchedWrite/SchedRead tag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743200.0" y="1783080"/>
            <a:ext cx="0.0" cy="91440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457200" y="1874520"/>
            <a:ext cx="4572000" cy="50292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50" b="1">
                <a:solidFill>
                  <a:srgbClr val="242A37"/>
                </a:solidFill>
                <a:latin typeface="Calibri"/>
              </a:rPr>
              <a:t>Per-CPU file binds tag
to ProcResource + Latency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0.0" y="2377440"/>
            <a:ext cx="0.0" cy="91440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457200" y="2468880"/>
            <a:ext cx="4572000" cy="50292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50" b="1">
                <a:solidFill>
                  <a:srgbClr val="242A37"/>
                </a:solidFill>
                <a:latin typeface="Calibri"/>
              </a:rPr>
              <a:t>InstRW / SchedVariant
refine specific cases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743200.0" y="2971800"/>
            <a:ext cx="0.0" cy="91440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457200" y="3063240"/>
            <a:ext cx="4572000" cy="502920"/>
          </a:xfrm>
          <a:prstGeom prst="round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50" b="1">
                <a:solidFill>
                  <a:srgbClr val="242A37"/>
                </a:solidFill>
                <a:latin typeface="Calibri"/>
              </a:rPr>
              <a:t>MachineScheduler orders
instructions using this data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2743200.0" y="3566160"/>
            <a:ext cx="0.0" cy="91440"/>
          </a:xfrm>
          <a:prstGeom prst="bentConnector3">
            <a:avLst/>
          </a:prstGeom>
          <a:ln w="28575">
            <a:solidFill>
              <a:srgbClr val="1F6F8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ectangle 13"/>
          <p:cNvSpPr/>
          <p:nvPr/>
        </p:nvSpPr>
        <p:spPr>
          <a:xfrm>
            <a:off x="457200" y="3657600"/>
            <a:ext cx="4572000" cy="1234440"/>
          </a:xfrm>
          <a:prstGeom prst="rect">
            <a:avLst/>
          </a:prstGeom>
          <a:solidFill>
            <a:srgbClr val="1B2A4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4360" y="3749040"/>
            <a:ext cx="4297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350" b="1" i="0">
                <a:solidFill>
                  <a:srgbClr val="FFFFFF"/>
                </a:solidFill>
                <a:latin typeface="Calibri"/>
              </a:rPr>
              <a:t>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4360" y="4023360"/>
            <a:ext cx="429768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200" b="0" i="0">
                <a:solidFill>
                  <a:srgbClr val="B8C2D9"/>
                </a:solidFill>
                <a:latin typeface="Calibri"/>
              </a:rPr>
              <a:t>Fewer stalls • better ILP • correct fused pairs • CPU-tuned code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0" y="1280160"/>
            <a:ext cx="6217920" cy="5029200"/>
          </a:xfrm>
          <a:prstGeom prst="rect">
            <a:avLst/>
          </a:prstGeom>
          <a:solidFill>
            <a:srgbClr val="F4F5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15000" y="1463040"/>
            <a:ext cx="5760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WHY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15000" y="1783080"/>
            <a:ext cx="5760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242A37"/>
                </a:solidFill>
                <a:latin typeface="Calibri"/>
              </a:rPr>
              <a:t>Real hardware has latency and finite resources; a bad order stalls the pipeline.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715000" y="2834640"/>
            <a:ext cx="5760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WHAT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715000" y="3154680"/>
            <a:ext cx="5760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242A37"/>
                </a:solidFill>
                <a:latin typeface="Calibri"/>
              </a:rPr>
              <a:t>A per-CPU TableGen description: SchedMachineModel + ProcResource + SchedWrite/Read + WriteRes.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715000" y="4206240"/>
            <a:ext cx="5760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HOW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715000" y="4526280"/>
            <a:ext cx="5760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242A37"/>
                </a:solidFill>
                <a:latin typeface="Calibri"/>
              </a:rPr>
              <a:t>Instructions are tagged generically once; each CPU file supplies real latencies via WriteRes/InstRW/SchedVariant; macro fusion and clustering add extra ordering rules.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715000" y="5577840"/>
            <a:ext cx="57607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400" b="1" i="0">
                <a:solidFill>
                  <a:srgbClr val="C0392B"/>
                </a:solidFill>
                <a:latin typeface="Calibri"/>
              </a:rPr>
              <a:t>WHERE USED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715000" y="5897880"/>
            <a:ext cx="576072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 i="0">
                <a:solidFill>
                  <a:srgbClr val="242A37"/>
                </a:solidFill>
                <a:latin typeface="Calibri"/>
              </a:rPr>
              <a:t>Both the pre-RA (ScheduleDAGMILive) and post-RA (AArch64PostRASchedStrategy) scheduler passes consult the same model.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6446520"/>
            <a:ext cx="112471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150" b="0" i="1">
                <a:solidFill>
                  <a:srgbClr val="6C6F76"/>
                </a:solidFill>
                <a:latin typeface="Calibri"/>
              </a:rPr>
              <a:t>📄 Source: Summary of: AArch64Schedule.td, AArch64Sched*.td, AArch64MachineScheduler.*, AArch64MacroFusion.cpp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521440" y="6492240"/>
            <a:ext cx="54864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/>
            <a:r>
              <a:rPr sz="1100" b="0" i="0">
                <a:solidFill>
                  <a:srgbClr val="6C6F76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