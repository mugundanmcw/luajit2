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1F4E79"/>
                </a:solidFill>
              </a:defRPr>
            </a:pPr>
            <a:r>
              <a:t>How LLD Links Programs &amp; How the OS Loads Them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Beginner-Friendly, Diagram-Based Guide</a:t>
            </a:r>
          </a:p>
          <a:p>
            <a:r>
              <a:t>Symbol Resolution  |  Relocations  |  ELF/PE Layout  |  Loader  |  .lib / .dll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Calibri"/>
              </a:defRPr>
            </a:pPr>
            <a:r>
              <a:t>Agenda</a:t>
            </a:r>
          </a:p>
          <a:p>
            <a:pPr>
              <a:defRPr sz="1500" i="1">
                <a:solidFill>
                  <a:srgbClr val="595959"/>
                </a:solidFill>
              </a:defRPr>
            </a:pPr>
            <a:r>
              <a:t>What we will cover in this session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12121"/>
                </a:solidFill>
              </a:defRPr>
            </a:pPr>
            <a:r>
              <a:t>●  1. Compiler vs. Linker vs. Loader - who does what?</a:t>
            </a:r>
          </a:p>
          <a:p>
            <a:pPr>
              <a:spcAft>
                <a:spcPts val="700"/>
              </a:spcAft>
              <a:defRPr sz="1700" b="0">
                <a:solidFill>
                  <a:srgbClr val="212121"/>
                </a:solidFill>
              </a:defRPr>
            </a:pPr>
            <a:r>
              <a:t>●  2. Why do we even need a linker? (multiple object files problem)</a:t>
            </a:r>
          </a:p>
          <a:p>
            <a:pPr>
              <a:spcAft>
                <a:spcPts val="700"/>
              </a:spcAft>
              <a:defRPr sz="1700" b="0">
                <a:solidFill>
                  <a:srgbClr val="212121"/>
                </a:solidFill>
              </a:defRPr>
            </a:pPr>
            <a:r>
              <a:t>●  3. What is a Symbol Table? Defined / Undefined / Local / Global / Weak</a:t>
            </a:r>
          </a:p>
          <a:p>
            <a:pPr>
              <a:spcAft>
                <a:spcPts val="700"/>
              </a:spcAft>
              <a:defRPr sz="1700" b="0">
                <a:solidFill>
                  <a:srgbClr val="212121"/>
                </a:solidFill>
              </a:defRPr>
            </a:pPr>
            <a:r>
              <a:t>●  4. How LLD merges symbol tables from many input files</a:t>
            </a:r>
          </a:p>
          <a:p>
            <a:pPr>
              <a:spcAft>
                <a:spcPts val="700"/>
              </a:spcAft>
              <a:defRPr sz="1700" b="0">
                <a:solidFill>
                  <a:srgbClr val="212121"/>
                </a:solidFill>
              </a:defRPr>
            </a:pPr>
            <a:r>
              <a:t>●  5. Relocation basics - recap and how LLD scans them</a:t>
            </a:r>
          </a:p>
          <a:p>
            <a:pPr>
              <a:spcAft>
                <a:spcPts val="700"/>
              </a:spcAft>
              <a:defRPr sz="1700" b="0">
                <a:solidFill>
                  <a:srgbClr val="212121"/>
                </a:solidFill>
              </a:defRPr>
            </a:pPr>
            <a:r>
              <a:t>●  6. GOT and PLT - why dynamic linking needs them</a:t>
            </a:r>
          </a:p>
          <a:p>
            <a:pPr>
              <a:spcAft>
                <a:spcPts val="700"/>
              </a:spcAft>
              <a:defRPr sz="1700" b="0">
                <a:solidFill>
                  <a:srgbClr val="212121"/>
                </a:solidFill>
              </a:defRPr>
            </a:pPr>
            <a:r>
              <a:t>●  7. How LLD lays out sections, applies relocations, writes the file</a:t>
            </a:r>
          </a:p>
          <a:p>
            <a:pPr>
              <a:spcAft>
                <a:spcPts val="700"/>
              </a:spcAft>
              <a:defRPr sz="1700" b="0">
                <a:solidFill>
                  <a:srgbClr val="212121"/>
                </a:solidFill>
              </a:defRPr>
            </a:pPr>
            <a:r>
              <a:t>●  8. Anatomy of the output file: headers, sections, segments</a:t>
            </a:r>
          </a:p>
          <a:p>
            <a:pPr>
              <a:spcAft>
                <a:spcPts val="700"/>
              </a:spcAft>
              <a:defRPr sz="1700" b="0">
                <a:solidFill>
                  <a:srgbClr val="212121"/>
                </a:solidFill>
              </a:defRPr>
            </a:pPr>
            <a:r>
              <a:t>●  9. Static (.a/.lib) vs Dynamic (.so/.dll) linking</a:t>
            </a:r>
          </a:p>
          <a:p>
            <a:pPr>
              <a:spcAft>
                <a:spcPts val="700"/>
              </a:spcAft>
              <a:defRPr sz="1700" b="0">
                <a:solidFill>
                  <a:srgbClr val="212121"/>
                </a:solidFill>
              </a:defRPr>
            </a:pPr>
            <a:r>
              <a:t>●  10. Role of .lib (import library) and .dll (shared library) on Windows</a:t>
            </a:r>
          </a:p>
          <a:p>
            <a:pPr>
              <a:spcAft>
                <a:spcPts val="700"/>
              </a:spcAft>
              <a:defRPr sz="1700" b="0">
                <a:solidFill>
                  <a:srgbClr val="212121"/>
                </a:solidFill>
              </a:defRPr>
            </a:pPr>
            <a:r>
              <a:t>●  11. How the OS Loader loads an executable into memory</a:t>
            </a:r>
          </a:p>
          <a:p>
            <a:pPr>
              <a:spcAft>
                <a:spcPts val="700"/>
              </a:spcAft>
              <a:defRPr sz="1700" b="0">
                <a:solidFill>
                  <a:srgbClr val="212121"/>
                </a:solidFill>
              </a:defRPr>
            </a:pPr>
            <a:r>
              <a:t>●  12. Dynamic linker at runtime: lazy binding via GOT/PLT</a:t>
            </a:r>
          </a:p>
          <a:p>
            <a:pPr>
              <a:spcAft>
                <a:spcPts val="700"/>
              </a:spcAft>
              <a:defRPr sz="1700" b="0">
                <a:solidFill>
                  <a:srgbClr val="212121"/>
                </a:solidFill>
              </a:defRPr>
            </a:pPr>
            <a:r>
              <a:t>●  13. End-to-end summary &amp; key LLD source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LLD Linker &amp; OS Loader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Calibri"/>
              </a:defRPr>
            </a:pPr>
            <a:r>
              <a:t>Compiler vs. Linker vs. Loader - Who Does What?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17043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377440"/>
                <a:gridCol w="2743200"/>
                <a:gridCol w="2377440"/>
                <a:gridCol w="2926080"/>
              </a:tblGrid>
              <a:tr h="5943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Stage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Tool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Input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Output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Main Job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Compile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clang / gcc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source .c/.cpp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object file .o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Translate code, leave symbols/fixups for later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Link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LLD (ld.lld)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many .o + .a/.lib + .so/.dll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executable / .so / .dll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Merge, resolve symbols, fix relocations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Load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OS Loader (ld.so / Windows Loader)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executable file on disk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running process in memory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212121"/>
                          </a:solidFill>
                        </a:defRPr>
                      </a:pPr>
                      <a:r>
                        <a:t>Map into memory, resolve remaining runtime links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274320" y="4206240"/>
            <a:ext cx="1554480" cy="1051560"/>
          </a:xfrm>
          <a:prstGeom prst="roundRect">
            <a:avLst/>
          </a:prstGeom>
          <a:solidFill>
            <a:srgbClr val="DAE3F3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100" b="1" i="0">
                <a:solidFill>
                  <a:srgbClr val="212121"/>
                </a:solidFill>
              </a:defRPr>
            </a:pPr>
            <a:r>
              <a:t>Source</a:t>
            </a:r>
          </a:p>
          <a:p>
            <a:pPr algn="ctr">
              <a:defRPr sz="1100" b="1" i="0">
                <a:solidFill>
                  <a:srgbClr val="212121"/>
                </a:solidFill>
              </a:defRPr>
            </a:pPr>
            <a:r>
              <a:t>Code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828800" y="4622292"/>
            <a:ext cx="182880" cy="2194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011680" y="4206240"/>
            <a:ext cx="1554480" cy="1051560"/>
          </a:xfrm>
          <a:prstGeom prst="roundRect">
            <a:avLst/>
          </a:prstGeom>
          <a:solidFill>
            <a:srgbClr val="E8DAE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100" b="1" i="0">
                <a:solidFill>
                  <a:srgbClr val="212121"/>
                </a:solidFill>
              </a:defRPr>
            </a:pPr>
            <a:r>
              <a:t>Compiler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566160" y="4622292"/>
            <a:ext cx="182880" cy="2194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749040" y="4206240"/>
            <a:ext cx="1554480" cy="1051560"/>
          </a:xfrm>
          <a:prstGeom prst="roundRect">
            <a:avLst/>
          </a:prstGeom>
          <a:solidFill>
            <a:srgbClr val="DAE3F3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100" b="1" i="0">
                <a:solidFill>
                  <a:srgbClr val="212121"/>
                </a:solidFill>
              </a:defRPr>
            </a:pPr>
            <a:r>
              <a:t>Object</a:t>
            </a:r>
          </a:p>
          <a:p>
            <a:pPr algn="ctr">
              <a:defRPr sz="1100" b="1" i="0">
                <a:solidFill>
                  <a:srgbClr val="212121"/>
                </a:solidFill>
              </a:defRPr>
            </a:pPr>
            <a:r>
              <a:t>Files (.o)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303520" y="4622292"/>
            <a:ext cx="182880" cy="2194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0" y="4206240"/>
            <a:ext cx="1554480" cy="105156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100" b="1" i="0">
                <a:solidFill>
                  <a:srgbClr val="212121"/>
                </a:solidFill>
              </a:defRPr>
            </a:pPr>
            <a:r>
              <a:t>LLD</a:t>
            </a:r>
          </a:p>
          <a:p>
            <a:pPr algn="ctr">
              <a:defRPr sz="1100" b="1" i="0">
                <a:solidFill>
                  <a:srgbClr val="212121"/>
                </a:solidFill>
              </a:defRPr>
            </a:pPr>
            <a:r>
              <a:t>(Linker)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040880" y="4622292"/>
            <a:ext cx="182880" cy="2194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23760" y="4206240"/>
            <a:ext cx="1554480" cy="105156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100" b="1" i="0">
                <a:solidFill>
                  <a:srgbClr val="212121"/>
                </a:solidFill>
              </a:defRPr>
            </a:pPr>
            <a:r>
              <a:t>Executable</a:t>
            </a:r>
          </a:p>
          <a:p>
            <a:pPr algn="ctr">
              <a:defRPr sz="1100" b="1" i="0">
                <a:solidFill>
                  <a:srgbClr val="212121"/>
                </a:solidFill>
              </a:defRPr>
            </a:pPr>
            <a:r>
              <a:t>/ .so / .dll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8778240" y="4622292"/>
            <a:ext cx="182880" cy="2194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961120" y="4206240"/>
            <a:ext cx="1554480" cy="1051560"/>
          </a:xfrm>
          <a:prstGeom prst="roundRect">
            <a:avLst/>
          </a:prstGeom>
          <a:solidFill>
            <a:srgbClr val="D5F0E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100" b="1" i="0">
                <a:solidFill>
                  <a:srgbClr val="212121"/>
                </a:solidFill>
              </a:defRPr>
            </a:pPr>
            <a:r>
              <a:t>OS Loader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10515600" y="4622292"/>
            <a:ext cx="182880" cy="2194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698480" y="4206240"/>
            <a:ext cx="1554480" cy="105156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100" b="1" i="0">
                <a:solidFill>
                  <a:srgbClr val="212121"/>
                </a:solidFill>
              </a:defRPr>
            </a:pPr>
            <a:r>
              <a:t>Running</a:t>
            </a:r>
          </a:p>
          <a:p>
            <a:pPr algn="ctr">
              <a:defRPr sz="1100" b="1" i="0">
                <a:solidFill>
                  <a:srgbClr val="212121"/>
                </a:solidFill>
              </a:defRPr>
            </a:pPr>
            <a:r>
              <a:t>Process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557784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595959"/>
                </a:solidFill>
              </a:defRPr>
            </a:pPr>
            <a:r>
              <a:t>This PPT focuses on the LINK and LOAD stages - what LLD does to your .o files, and how the OS turns the result into a running program.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LLD Linker &amp; OS Loader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Calibri"/>
              </a:defRPr>
            </a:pPr>
            <a:r>
              <a:t>Why Do We Even Need a Linker?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474720" cy="1371600"/>
          </a:xfrm>
          <a:prstGeom prst="roundRect">
            <a:avLst/>
          </a:prstGeom>
          <a:solidFill>
            <a:srgbClr val="DAE3F3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main.o</a:t>
            </a:r>
          </a:p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calls: printf()</a:t>
            </a:r>
          </a:p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defines: main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79" y="1371600"/>
            <a:ext cx="3474720" cy="1371600"/>
          </a:xfrm>
          <a:prstGeom prst="roundRect">
            <a:avLst/>
          </a:prstGeom>
          <a:solidFill>
            <a:srgbClr val="E8DAE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math.o</a:t>
            </a:r>
          </a:p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defines: add()</a:t>
            </a:r>
          </a:p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calls: (none)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18" y="1371600"/>
            <a:ext cx="3474720" cy="137160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libc.a</a:t>
            </a:r>
          </a:p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defines: printf()</a:t>
            </a:r>
          </a:p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(from the C library)</a:t>
            </a:r>
          </a:p>
        </p:txBody>
      </p:sp>
      <p:sp>
        <p:nvSpPr>
          <p:cNvPr id="7" name="Down Arrow 6"/>
          <p:cNvSpPr/>
          <p:nvPr/>
        </p:nvSpPr>
        <p:spPr>
          <a:xfrm>
            <a:off x="5394960" y="2880360"/>
            <a:ext cx="1371600" cy="457200"/>
          </a:xfrm>
          <a:prstGeom prst="down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63040" y="3474720"/>
            <a:ext cx="9235440" cy="118872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500" b="1" i="0">
                <a:solidFill>
                  <a:srgbClr val="212121"/>
                </a:solidFill>
              </a:defRPr>
            </a:pPr>
            <a:r>
              <a:t>LLD combines all three files into ONE program:</a:t>
            </a:r>
          </a:p>
          <a:p>
            <a:pPr algn="ctr">
              <a:defRPr sz="1500" b="1" i="0">
                <a:solidFill>
                  <a:srgbClr val="212121"/>
                </a:solidFill>
              </a:defRPr>
            </a:pPr>
            <a:r>
              <a:t>main() can now actually call add() and printf()</a:t>
            </a:r>
          </a:p>
          <a:p>
            <a:pPr algn="ctr">
              <a:defRPr sz="1500" b="1" i="0">
                <a:solidFill>
                  <a:srgbClr val="212121"/>
                </a:solidFill>
              </a:defRPr>
            </a:pPr>
            <a:r>
              <a:t>because the linker connected the calls to their real addresses.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4632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Each .o file is compiled SEPARATELY and knows nothing about the others.</a:t>
            </a:r>
          </a:p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Function calls to code in other files are left as UNDEFINED references (with relocations).</a:t>
            </a:r>
          </a:p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The linker's job: find every definition, match it to every use, and patch the addresses in.</a:t>
            </a:r>
          </a:p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Without a linker, you'd have separate incomplete files that could never run as one program.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LLD Linker &amp; OS Loader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Calibri"/>
              </a:defRPr>
            </a:pPr>
            <a:r>
              <a:t>LLD's Architecture (lld/ source tree)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371600"/>
          <a:ext cx="114300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377440"/>
                <a:gridCol w="6858000"/>
              </a:tblGrid>
              <a:tr h="4572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Folder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Target Format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Used For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12121"/>
                          </a:solidFill>
                        </a:defRPr>
                      </a:pPr>
                      <a:r>
                        <a:t>lld/ELF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12121"/>
                          </a:solidFill>
                        </a:defRPr>
                      </a:pPr>
                      <a:r>
                        <a:t>ELF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12121"/>
                          </a:solidFill>
                        </a:defRPr>
                      </a:pPr>
                      <a:r>
                        <a:t>Linux, most Unix-like systems (executables, .so shared libraries)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12121"/>
                          </a:solidFill>
                        </a:defRPr>
                      </a:pPr>
                      <a:r>
                        <a:t>lld/COFF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12121"/>
                          </a:solidFill>
                        </a:defRPr>
                      </a:pPr>
                      <a:r>
                        <a:t>PE/COFF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12121"/>
                          </a:solidFill>
                        </a:defRPr>
                      </a:pPr>
                      <a:r>
                        <a:t>Windows (.exe, .dll) - this is 'lld-link'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12121"/>
                          </a:solidFill>
                        </a:defRPr>
                      </a:pPr>
                      <a:r>
                        <a:t>lld/MachO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12121"/>
                          </a:solidFill>
                        </a:defRPr>
                      </a:pPr>
                      <a:r>
                        <a:t>Mach-O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12121"/>
                          </a:solidFill>
                        </a:defRPr>
                      </a:pPr>
                      <a:r>
                        <a:t>macOS / iOS executables and .dylib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12121"/>
                          </a:solidFill>
                        </a:defRPr>
                      </a:pPr>
                      <a:r>
                        <a:t>lld/wasm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12121"/>
                          </a:solidFill>
                        </a:defRPr>
                      </a:pPr>
                      <a:r>
                        <a:t>WebAssembly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12121"/>
                          </a:solidFill>
                        </a:defRPr>
                      </a:pPr>
                      <a:r>
                        <a:t>WASM modules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12121"/>
                          </a:solidFill>
                        </a:defRPr>
                      </a:pPr>
                      <a:r>
                        <a:t>lld/Common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12121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12121"/>
                          </a:solidFill>
                        </a:defRPr>
                      </a:pPr>
                      <a:r>
                        <a:t>Shared utilities used by all the format-specific linkers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429768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595959"/>
                </a:solidFill>
              </a:defRPr>
            </a:pPr>
            <a:r>
              <a:t>This deck focuses mainly on lld/ELF (used to explain core concepts), and touches lld/COFF for .lib/.dll.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4846320"/>
          <a:ext cx="114300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8138160"/>
              </a:tblGrid>
              <a:tr h="2895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Key ELF File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Driver.cpp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Entry point - parses command line, drives the whole link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InputFiles.cpp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Reads .o / .a / .so files into memory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SymbolTable.cpp / Symbols.cpp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The global symbol table - merges symbols from all files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Relocations.cpp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Scans every relocation, decides GOT/PLT/copy-reloc needs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Writer.cpp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Lays out sections/segments, applies relocations, writes the final file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LLD Linker &amp; OS Loader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Calibri"/>
              </a:defRPr>
            </a:pPr>
            <a:r>
              <a:t>Step 1: Reading All the Input Files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463040"/>
            <a:ext cx="2468880" cy="1097280"/>
          </a:xfrm>
          <a:prstGeom prst="roundRect">
            <a:avLst/>
          </a:prstGeom>
          <a:solidFill>
            <a:srgbClr val="DAE3F3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object files</a:t>
            </a:r>
          </a:p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(.o)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91840" y="1901952"/>
            <a:ext cx="274320" cy="2194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566160" y="1463040"/>
            <a:ext cx="2468880" cy="109728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static archives</a:t>
            </a:r>
          </a:p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(.a / .lib)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035040" y="1901952"/>
            <a:ext cx="274320" cy="2194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2468880" cy="1097280"/>
          </a:xfrm>
          <a:prstGeom prst="roundRect">
            <a:avLst/>
          </a:prstGeom>
          <a:solidFill>
            <a:srgbClr val="D5F0E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shared libraries</a:t>
            </a:r>
          </a:p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(.so / .dll)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78240" y="1901952"/>
            <a:ext cx="274320" cy="2194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52560" y="1463040"/>
            <a:ext cx="2468880" cy="1097280"/>
          </a:xfrm>
          <a:prstGeom prst="roundRect">
            <a:avLst/>
          </a:prstGeom>
          <a:solidFill>
            <a:srgbClr val="E8DAE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linker scripts</a:t>
            </a:r>
          </a:p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(optional)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577840" y="2743200"/>
            <a:ext cx="548640" cy="365760"/>
          </a:xfrm>
          <a:prstGeom prst="down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737360" y="3200400"/>
            <a:ext cx="8686800" cy="118872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500" b="1" i="0">
                <a:solidFill>
                  <a:srgbClr val="212121"/>
                </a:solidFill>
              </a:defRPr>
            </a:pPr>
            <a:r>
              <a:t>LLD's InputFiles.cpp reads each file's format (ELF header),</a:t>
            </a:r>
          </a:p>
          <a:p>
            <a:pPr algn="ctr">
              <a:defRPr sz="1500" b="1" i="0">
                <a:solidFill>
                  <a:srgbClr val="212121"/>
                </a:solidFill>
              </a:defRPr>
            </a:pPr>
            <a:r>
              <a:t>extracts its Symbol Table and Section data,</a:t>
            </a:r>
          </a:p>
          <a:p>
            <a:pPr algn="ctr">
              <a:defRPr sz="1500" b="1" i="0">
                <a:solidFill>
                  <a:srgbClr val="212121"/>
                </a:solidFill>
              </a:defRPr>
            </a:pPr>
            <a:r>
              <a:t>and registers everything with the linker's global state (Ctx).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6344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Object files (.o): compiled code + data + their own local symbol table + relocations.</a:t>
            </a:r>
          </a:p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Static archives (.a on Linux, .lib on Windows/MinGW): a bundle of many .o files; LLD extracts only the members it actually needs.</a:t>
            </a:r>
          </a:p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Shared libraries (.so on Linux, .dll on Windows): NOT copied into the output; the linker just records "this symbol comes from here" for the loader to resolve later.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LLD Linker &amp; OS Loader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Calibri"/>
              </a:defRPr>
            </a:pPr>
            <a:r>
              <a:t>What is a Symbol Table? (The Basics)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95959"/>
                </a:solidFill>
              </a:defRPr>
            </a:pPr>
            <a:r>
              <a:t>A Symbol Table is simply a list of NAMES (functions, global variables) and information about each one.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554480"/>
          <a:ext cx="11430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9052560"/>
              </a:tblGrid>
              <a:tr h="47026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The symbol's name, e.g. "main", "printf", "globalCounter"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Value / Address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Where the symbol lives (offset in section, or final address after linking)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Size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How many bytes this symbol occupies (for objects/functions)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Binding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LOCAL (private to file), GLOBAL (visible to other files), WEAK (can be overridden)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FUNC (function), OBJECT (variable), SECTION, FILE, etc.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Section Index (shndx)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Which section the symbol belongs to, or UNDEF (SHN_UNDEF) if not defined here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502920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1">
                <a:solidFill>
                  <a:srgbClr val="1F4E79"/>
                </a:solidFill>
              </a:defRPr>
            </a:pPr>
            <a:r>
              <a:t>LLD's internal class: lld::elf::Symbol  (see lld/ELF/Symbols.h)  -  every name in every input file becomes one Symbol object that LLD tracks.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LLD Linker &amp; OS Loader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Calibri"/>
              </a:defRPr>
            </a:pPr>
            <a:r>
              <a:t>Defined vs. Undefined Symbols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182880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600" b="1" i="0">
                <a:solidFill>
                  <a:srgbClr val="212121"/>
                </a:solidFill>
              </a:defRPr>
            </a:pPr>
            <a:r>
              <a:t>DEFINED</a:t>
            </a:r>
          </a:p>
          <a:p>
            <a:pPr algn="ctr">
              <a:defRPr sz="1600" b="1" i="0">
                <a:solidFill>
                  <a:srgbClr val="212121"/>
                </a:solidFill>
              </a:defRPr>
            </a:pPr>
          </a:p>
          <a:p>
            <a:pPr algn="ctr">
              <a:defRPr sz="1600" b="1" i="0">
                <a:solidFill>
                  <a:srgbClr val="212121"/>
                </a:solidFill>
              </a:defRPr>
            </a:pPr>
            <a:r>
              <a:t>"I provide this."</a:t>
            </a:r>
          </a:p>
          <a:p>
            <a:pPr algn="ctr">
              <a:defRPr sz="1600" b="1" i="0">
                <a:solidFill>
                  <a:srgbClr val="212121"/>
                </a:solidFill>
              </a:defRPr>
            </a:pPr>
            <a:r>
              <a:t>Example: add() has</a:t>
            </a:r>
          </a:p>
          <a:p>
            <a:pPr algn="ctr">
              <a:defRPr sz="1600" b="1" i="0">
                <a:solidFill>
                  <a:srgbClr val="212121"/>
                </a:solidFill>
              </a:defRPr>
            </a:pPr>
            <a:r>
              <a:t>actual instructions here.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029200" cy="1828800"/>
          </a:xfrm>
          <a:prstGeom prst="roundRect">
            <a:avLst/>
          </a:prstGeom>
          <a:solidFill>
            <a:srgbClr val="FCE0E0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600" b="1" i="0">
                <a:solidFill>
                  <a:srgbClr val="A61B1B"/>
                </a:solidFill>
              </a:defRPr>
            </a:pPr>
            <a:r>
              <a:t>UNDEFINED</a:t>
            </a:r>
          </a:p>
          <a:p>
            <a:pPr algn="ctr">
              <a:defRPr sz="1600" b="1" i="0">
                <a:solidFill>
                  <a:srgbClr val="A61B1B"/>
                </a:solidFill>
              </a:defRPr>
            </a:pPr>
          </a:p>
          <a:p>
            <a:pPr algn="ctr">
              <a:defRPr sz="1600" b="1" i="0">
                <a:solidFill>
                  <a:srgbClr val="A61B1B"/>
                </a:solidFill>
              </a:defRPr>
            </a:pPr>
            <a:r>
              <a:t>"I need this from</a:t>
            </a:r>
          </a:p>
          <a:p>
            <a:pPr algn="ctr">
              <a:defRPr sz="1600" b="1" i="0">
                <a:solidFill>
                  <a:srgbClr val="A61B1B"/>
                </a:solidFill>
              </a:defRPr>
            </a:pPr>
            <a:r>
              <a:t>someone else."</a:t>
            </a:r>
          </a:p>
          <a:p>
            <a:pPr algn="ctr">
              <a:defRPr sz="1600" b="1" i="0">
                <a:solidFill>
                  <a:srgbClr val="A61B1B"/>
                </a:solidFill>
              </a:defRPr>
            </a:pPr>
            <a:r>
              <a:t>Example: main.o calls</a:t>
            </a:r>
          </a:p>
          <a:p>
            <a:pPr algn="ctr">
              <a:defRPr sz="1600" b="1" i="0">
                <a:solidFill>
                  <a:srgbClr val="A61B1B"/>
                </a:solidFill>
              </a:defRPr>
            </a:pPr>
            <a:r>
              <a:t>printf() but doesn't define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</a:defRPr>
            </a:pPr>
            <a:r>
              <a:t>Other important Symbol kinds in LLD: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977639"/>
          <a:ext cx="109728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961120"/>
              </a:tblGrid>
              <a:tr h="4343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Kind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Common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Uninitialized global variable that may be defined identically in multiple files (old C behavior)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Shared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Symbol that comes from a .so / .dll - resolved at load/run time, not compile time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Lazy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Symbol that lives inside a STATIC ARCHIVE (.a/.lib) member not yet extracted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852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A61B1B"/>
                </a:solidFill>
              </a:defRPr>
            </a:pPr>
            <a:r>
              <a:t>The Linker's #1 job: make sure every UNDEFINED symbol finds a matching DEFINED symbol somewhere.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LLD Linker &amp; OS Loader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Calibri"/>
              </a:defRPr>
            </a:pPr>
            <a:r>
              <a:t>How LLD Merges Symbol Tables From Many Files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566160" cy="1737360"/>
          </a:xfrm>
          <a:prstGeom prst="roundRect">
            <a:avLst/>
          </a:prstGeom>
          <a:solidFill>
            <a:srgbClr val="DAE3F3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main.o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main (def)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add (undef)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printf (undef)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1371600"/>
            <a:ext cx="3566160" cy="1737360"/>
          </a:xfrm>
          <a:prstGeom prst="roundRect">
            <a:avLst/>
          </a:prstGeom>
          <a:solidFill>
            <a:srgbClr val="DAE3F3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math.o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add (def)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371600"/>
            <a:ext cx="3566160" cy="1737360"/>
          </a:xfrm>
          <a:prstGeom prst="roundRect">
            <a:avLst/>
          </a:prstGeom>
          <a:solidFill>
            <a:srgbClr val="DAE3F3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libc.so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printf (def, shared)</a:t>
            </a:r>
          </a:p>
        </p:txBody>
      </p:sp>
      <p:sp>
        <p:nvSpPr>
          <p:cNvPr id="7" name="Down Arrow 6"/>
          <p:cNvSpPr/>
          <p:nvPr/>
        </p:nvSpPr>
        <p:spPr>
          <a:xfrm>
            <a:off x="5486400" y="3200400"/>
            <a:ext cx="640080" cy="365760"/>
          </a:xfrm>
          <a:prstGeom prst="down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63040" y="3657600"/>
            <a:ext cx="9235440" cy="155448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l">
              <a:defRPr sz="1400" b="1" i="0">
                <a:solidFill>
                  <a:srgbClr val="212121"/>
                </a:solidFill>
              </a:defRPr>
            </a:pPr>
            <a:r>
              <a:t>GLOBAL SYMBOL TABLE (lld::elf::SymbolTable)</a:t>
            </a:r>
          </a:p>
          <a:p>
            <a:pPr algn="l">
              <a:defRPr sz="1400" b="1" i="0">
                <a:solidFill>
                  <a:srgbClr val="212121"/>
                </a:solidFill>
              </a:defRPr>
            </a:pPr>
          </a:p>
          <a:p>
            <a:pPr algn="l">
              <a:defRPr sz="1400" b="1" i="0">
                <a:solidFill>
                  <a:srgbClr val="212121"/>
                </a:solidFill>
              </a:defRPr>
            </a:pPr>
            <a:r>
              <a:t>main  -&gt; defined in main.o</a:t>
            </a:r>
          </a:p>
          <a:p>
            <a:pPr algn="l">
              <a:defRPr sz="1400" b="1" i="0">
                <a:solidFill>
                  <a:srgbClr val="212121"/>
                </a:solidFill>
              </a:defRPr>
            </a:pPr>
            <a:r>
              <a:t>add   -&gt; defined in math.o</a:t>
            </a:r>
          </a:p>
          <a:p>
            <a:pPr algn="l">
              <a:defRPr sz="1400" b="1" i="0">
                <a:solidFill>
                  <a:srgbClr val="212121"/>
                </a:solidFill>
              </a:defRPr>
            </a:pPr>
            <a:r>
              <a:t>printf -&gt; defined in libc.so (shared, resolved by loader)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949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12121"/>
                </a:solidFill>
              </a:defRPr>
            </a:pPr>
            <a:r>
              <a:t>●  LLD keeps ONE global symbol table (ctx.symtab) and inserts every symbol name it sees from every file.</a:t>
            </a:r>
          </a:p>
          <a:p>
            <a:pPr>
              <a:spcAft>
                <a:spcPts val="700"/>
              </a:spcAft>
              <a:defRPr sz="1400" b="0">
                <a:solidFill>
                  <a:srgbClr val="212121"/>
                </a:solidFill>
              </a:defRPr>
            </a:pPr>
            <a:r>
              <a:t>●  If a name is already DEFINED and a new file defines it again -&gt; "duplicate symbol" error (unless weak).</a:t>
            </a:r>
          </a:p>
          <a:p>
            <a:pPr>
              <a:spcAft>
                <a:spcPts val="700"/>
              </a:spcAft>
              <a:defRPr sz="1400" b="0">
                <a:solidFill>
                  <a:srgbClr val="212121"/>
                </a:solidFill>
              </a:defRPr>
            </a:pPr>
            <a:r>
              <a:t>●  If a name is UNDEFINED and a later file/library defines it -&gt; the undefined symbol gets 'resolved' to that definition.</a:t>
            </a:r>
          </a:p>
          <a:p>
            <a:pPr>
              <a:spcAft>
                <a:spcPts val="700"/>
              </a:spcAft>
              <a:defRPr sz="1400" b="0">
                <a:solidFill>
                  <a:srgbClr val="212121"/>
                </a:solidFill>
              </a:defRPr>
            </a:pPr>
            <a:r>
              <a:t>●  At the end, any name that is still UNDEFINED with no definition anywhere -&gt; "undefined reference" link error.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LLD Linker &amp; OS Loader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Calibri"/>
              </a:defRPr>
            </a:pPr>
            <a:r>
              <a:t>Relocation Basics (Quick Recap)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95959"/>
                </a:solidFill>
              </a:defRPr>
            </a:pPr>
            <a:r>
              <a:t>Each object file also carries a RELOCATION TABLE - a list of "please patch this spot" instructions.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5448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9052560"/>
              </a:tblGrid>
              <a:tr h="4572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12121"/>
                          </a:solidFill>
                        </a:defRPr>
                      </a:pPr>
                      <a:r>
                        <a:t>r_offset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12121"/>
                          </a:solidFill>
                        </a:defRPr>
                      </a:pPr>
                      <a:r>
                        <a:t>Which byte location (inside a section) needs to be patched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12121"/>
                          </a:solidFill>
                        </a:defRPr>
                      </a:pPr>
                      <a:r>
                        <a:t>r_info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12121"/>
                          </a:solidFill>
                        </a:defRPr>
                      </a:pPr>
                      <a:r>
                        <a:t>Which SYMBOL this refers to + the relocation TYPE (how to compute the value)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12121"/>
                          </a:solidFill>
                        </a:defRPr>
                      </a:pPr>
                      <a:r>
                        <a:t>r_addend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12121"/>
                          </a:solidFill>
                        </a:defRPr>
                      </a:pPr>
                      <a:r>
                        <a:t>A constant number added during the calculation (for RELA-style relocations)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3657600"/>
            <a:ext cx="10972800" cy="128016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500" b="1" i="0">
                <a:solidFill>
                  <a:srgbClr val="212121"/>
                </a:solidFill>
              </a:defRPr>
            </a:pPr>
            <a:r>
              <a:t>Example: call printf   -&gt;   relocation says:</a:t>
            </a:r>
          </a:p>
          <a:p>
            <a:pPr algn="ctr">
              <a:defRPr sz="1500" b="1" i="0">
                <a:solidFill>
                  <a:srgbClr val="212121"/>
                </a:solidFill>
              </a:defRPr>
            </a:pPr>
            <a:r>
              <a:t>"At byte offset 20, patch in the address of symbol 'printf', using formula (S + A - P) for a PC-relative call."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The linker's job is to walk through EVERY relocation entry in EVERY object file,</a:t>
            </a:r>
          </a:p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look up the symbol it refers to in the global symbol table,</a:t>
            </a:r>
          </a:p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compute the final value using the relocation TYPE's formula, and</a:t>
            </a:r>
          </a:p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write that value into the final output bytes.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LLD Linker &amp; OS Loader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Calibri"/>
              </a:defRPr>
            </a:pPr>
            <a:r>
              <a:t>How LLD Scans Relocations (Relocations.cpp)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417320"/>
            <a:ext cx="2788920" cy="1554480"/>
          </a:xfrm>
          <a:prstGeom prst="roundRect">
            <a:avLst/>
          </a:prstGeom>
          <a:solidFill>
            <a:srgbClr val="DAE3F3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1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scanRelocations()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Walk every input section's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relocation list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154680" y="2084832"/>
            <a:ext cx="228600" cy="2194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383280" y="1417320"/>
            <a:ext cx="2788920" cy="1554480"/>
          </a:xfrm>
          <a:prstGeom prst="roundRect">
            <a:avLst/>
          </a:prstGeom>
          <a:solidFill>
            <a:srgbClr val="E8DAE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2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look up Symbol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Find target symbol in the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global symbol table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172200" y="2084832"/>
            <a:ext cx="228600" cy="2194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1417320"/>
            <a:ext cx="2788920" cy="155448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3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decide what's needed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Does this need a GOT entry?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A PLT stub? A copy reloc?</a:t>
            </a:r>
          </a:p>
        </p:txBody>
      </p:sp>
      <p:sp>
        <p:nvSpPr>
          <p:cNvPr id="9" name="Right Arrow 8"/>
          <p:cNvSpPr/>
          <p:nvPr/>
        </p:nvSpPr>
        <p:spPr>
          <a:xfrm>
            <a:off x="9189720" y="2084832"/>
            <a:ext cx="228600" cy="2194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418320" y="1417320"/>
            <a:ext cx="2788920" cy="155448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4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record decision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Mark symbol flags:</a:t>
            </a:r>
          </a:p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NEEDS_GOT, NEEDS_PLT, etc.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46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595959"/>
                </a:solidFill>
              </a:defRPr>
            </a:pPr>
            <a:r>
              <a:t>Key function: TargetInfo::scanSection() -&gt; RelocScan::process() in lld/ELF/Relocations.cpp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11247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For a LOCAL, already-known-address symbol: often the relocation can be resolved right away.</a:t>
            </a:r>
          </a:p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For a symbol in a SHARED LIBRARY (.so/.dll): LLD can't know its address yet (decided at load time) -&gt; needs a GOT entry.</a:t>
            </a:r>
          </a:p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For a CALL to a function in a shared library: LLD may generate a PLT (Procedure Linkage Table) stub.</a:t>
            </a:r>
          </a:p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For a WRITABLE global variable defined in a shared library: LLD may need a 'copy relocation' into the executable's own .bss.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LLD Linker &amp; OS Loader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Calibri"/>
              </a:defRPr>
            </a:pPr>
            <a:r>
              <a:t>GOT and PLT - Why Dynamic Linking Needs Them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212080" cy="2377440"/>
          </a:xfrm>
          <a:prstGeom prst="roundRect">
            <a:avLst/>
          </a:prstGeom>
          <a:solidFill>
            <a:srgbClr val="DAE3F3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GOT</a:t>
            </a:r>
          </a:p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(Global Offset Table)</a:t>
            </a:r>
          </a:p>
          <a:p>
            <a:pPr algn="ctr">
              <a:defRPr sz="1400" b="1" i="0">
                <a:solidFill>
                  <a:srgbClr val="212121"/>
                </a:solidFill>
              </a:defRPr>
            </a:pPr>
          </a:p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A table of pointers.</a:t>
            </a:r>
          </a:p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Each entry holds the</a:t>
            </a:r>
          </a:p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REAL address of a</a:t>
            </a:r>
          </a:p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global variable/function,</a:t>
            </a:r>
          </a:p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filled in at load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5212080" cy="237744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PLT</a:t>
            </a:r>
          </a:p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(Procedure Linkage Table)</a:t>
            </a:r>
          </a:p>
          <a:p>
            <a:pPr algn="ctr">
              <a:defRPr sz="1400" b="1" i="0">
                <a:solidFill>
                  <a:srgbClr val="212121"/>
                </a:solidFill>
              </a:defRPr>
            </a:pPr>
          </a:p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Small trampoline stubs.</a:t>
            </a:r>
          </a:p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Code calls the PLT stub,</a:t>
            </a:r>
          </a:p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which jumps through the</a:t>
            </a:r>
          </a:p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GOT to the real function</a:t>
            </a:r>
          </a:p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(supports LAZY binding).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</a:defRPr>
            </a:pPr>
            <a:r>
              <a:t>Why not just patch the real address directly?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891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A shared library (.so/.dll) can be loaded at a DIFFERENT address every time the program runs (ASLR / position-independent code).</a:t>
            </a:r>
          </a:p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So the executable CANNOT hard-code the real address of a shared library function at link time.</a:t>
            </a:r>
          </a:p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Instead: code jumps to a GOT/PLT entry, and the DYNAMIC LINKER fills in the real address when the library is actually loaded.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LLD Linker &amp; OS Loader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Calibri"/>
              </a:defRPr>
            </a:pPr>
            <a:r>
              <a:t>Step 3: Assigning Addresses &amp; Laying Out Sections (Writer.cpp)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12121"/>
                </a:solidFill>
              </a:defRPr>
            </a:pPr>
            <a:r>
              <a:t>●  1. createSyntheticSections() - build .got, .plt, .dynamic, .symtab, etc.</a:t>
            </a:r>
          </a:p>
          <a:p>
            <a:pPr>
              <a:spcAft>
                <a:spcPts val="700"/>
              </a:spcAft>
              <a:defRPr sz="1700" b="0">
                <a:solidFill>
                  <a:srgbClr val="212121"/>
                </a:solidFill>
              </a:defRPr>
            </a:pPr>
            <a:r>
              <a:t>●  2. processSectionCommands() / addOrphanSections() - decide which input sections go into which output sections</a:t>
            </a:r>
          </a:p>
          <a:p>
            <a:pPr>
              <a:spcAft>
                <a:spcPts val="700"/>
              </a:spcAft>
              <a:defRPr sz="1700" b="0">
                <a:solidFill>
                  <a:srgbClr val="212121"/>
                </a:solidFill>
              </a:defRPr>
            </a:pPr>
            <a:r>
              <a:t>●  3. createPhdrs() - group output sections into PROGRAM HEADERS (segments) for the loader</a:t>
            </a:r>
          </a:p>
          <a:p>
            <a:pPr>
              <a:spcAft>
                <a:spcPts val="700"/>
              </a:spcAft>
              <a:defRPr sz="1700" b="0">
                <a:solidFill>
                  <a:srgbClr val="212121"/>
                </a:solidFill>
              </a:defRPr>
            </a:pPr>
            <a:r>
              <a:t>●  4. assignFileOffsets() - assign a final virtual address (VA) and file offset to every byte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931920"/>
            <a:ext cx="9966960" cy="100584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600" b="1" i="0">
                <a:solidFill>
                  <a:srgbClr val="212121"/>
                </a:solidFill>
              </a:defRPr>
            </a:pPr>
            <a:r>
              <a:t>Only after this step does EVERY symbol have a REAL, FINAL address -</a:t>
            </a:r>
          </a:p>
          <a:p>
            <a:pPr algn="ctr">
              <a:defRPr sz="1600" b="1" i="0">
                <a:solidFill>
                  <a:srgbClr val="212121"/>
                </a:solidFill>
              </a:defRPr>
            </a:pPr>
            <a:r>
              <a:t>this is exactly the information relocations have been waiting for!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1F4E79"/>
                </a:solidFill>
              </a:defRPr>
            </a:pPr>
            <a:r>
              <a:t>Section -&gt; Segment mapping example: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5486400"/>
          <a:ext cx="109728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206240"/>
                <a:gridCol w="3657600"/>
              </a:tblGrid>
              <a:tr h="2743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Segment (Program Header)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Contains Sections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Permissions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PT_LOAD #1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.text, .plt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R + X (read + execute)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PT_LOAD #2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.data, .got, .bss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R + W (read + write)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PT_DYNAMIC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.dynamic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12121"/>
                          </a:solidFill>
                        </a:defRPr>
                      </a:pPr>
                      <a:r>
                        <a:t>R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LLD Linker &amp; OS Loader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Calibri"/>
              </a:defRPr>
            </a:pPr>
            <a:r>
              <a:t>Step 4: Applying Relocations (Patching the Final Bytes)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212121"/>
                </a:solidFill>
              </a:defRPr>
            </a:pPr>
            <a:r>
              <a:t>●  Now that every symbol has a final address, LLD walks every relocation ONE more time.</a:t>
            </a:r>
          </a:p>
          <a:p>
            <a:pPr>
              <a:spcAft>
                <a:spcPts val="700"/>
              </a:spcAft>
              <a:defRPr sz="1700" b="0">
                <a:solidFill>
                  <a:srgbClr val="212121"/>
                </a:solidFill>
              </a:defRPr>
            </a:pPr>
            <a:r>
              <a:t>●  For each relocation: compute value = f(SymbolAddress, Addend, PatchLocation) using the relocation TYPE's formula.</a:t>
            </a:r>
          </a:p>
          <a:p>
            <a:pPr>
              <a:spcAft>
                <a:spcPts val="700"/>
              </a:spcAft>
              <a:defRPr sz="1700" b="0">
                <a:solidFill>
                  <a:srgbClr val="212121"/>
                </a:solidFill>
              </a:defRPr>
            </a:pPr>
            <a:r>
              <a:t>●  Write that computed value directly into the output file's bytes at r_offset.</a:t>
            </a:r>
          </a:p>
          <a:p>
            <a:pPr>
              <a:spcAft>
                <a:spcPts val="700"/>
              </a:spcAft>
              <a:defRPr sz="1700" b="0">
                <a:solidFill>
                  <a:srgbClr val="212121"/>
                </a:solidFill>
              </a:defRPr>
            </a:pPr>
            <a:r>
              <a:t>●  This happens inside InputSection::relocate() calls, driven from Writer.cpp during file writing.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49039"/>
            <a:ext cx="10698480" cy="118872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l">
              <a:defRPr sz="1600" b="1" i="0">
                <a:solidFill>
                  <a:srgbClr val="212121"/>
                </a:solidFill>
              </a:defRPr>
            </a:pPr>
            <a:r>
              <a:t>Before:  bl   0x0  (placeholder, printf address unknown)</a:t>
            </a:r>
          </a:p>
          <a:p>
            <a:pPr algn="l">
              <a:defRPr sz="1600" b="1" i="0">
                <a:solidFill>
                  <a:srgbClr val="212121"/>
                </a:solidFill>
              </a:defRPr>
            </a:pPr>
            <a:r>
              <a:t>After:   bl   0x401040   (real, final address of printf's PLT stub)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212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1">
                <a:solidFill>
                  <a:srgbClr val="1F4E79"/>
                </a:solidFill>
              </a:defRPr>
            </a:pPr>
            <a:r>
              <a:t>This is the exact moment a FIXUP (from the compiler side) finally becomes a REAL, concrete instruction encoding in the finished executable.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LLD Linker &amp; OS Loader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Calibri"/>
              </a:defRPr>
            </a:pPr>
            <a:r>
              <a:t>Anatomy of the Output File (ELF Example)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57600" cy="777240"/>
          </a:xfrm>
          <a:prstGeom prst="roundRect">
            <a:avLst/>
          </a:prstGeom>
          <a:solidFill>
            <a:srgbClr val="DAE3F3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ELF Header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0" y="1417320"/>
            <a:ext cx="7406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12121"/>
                </a:solidFill>
              </a:defRPr>
            </a:pPr>
            <a:r>
              <a:t>Magic number, architecture, entry point address, offsets to other tables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04288"/>
            <a:ext cx="3657600" cy="77724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Program Headers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2350008"/>
            <a:ext cx="7406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12121"/>
                </a:solidFill>
              </a:defRPr>
            </a:pPr>
            <a:r>
              <a:t>Segments - tell the LOADER how to map the file into memory (PT_LOAD, PT_DYNAMIC, ...)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236976"/>
            <a:ext cx="3657600" cy="77724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.text / .data / .bss / .got / .plt / 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3282696"/>
            <a:ext cx="7406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12121"/>
                </a:solidFill>
              </a:defRPr>
            </a:pPr>
            <a:r>
              <a:t>The actual sections: code, initialized data, uninitialized data, tables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69664"/>
            <a:ext cx="3657600" cy="777240"/>
          </a:xfrm>
          <a:prstGeom prst="roundRect">
            <a:avLst/>
          </a:prstGeom>
          <a:solidFill>
            <a:srgbClr val="F2F2F2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Section Headers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4215384"/>
            <a:ext cx="7406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12121"/>
                </a:solidFill>
              </a:defRPr>
            </a:pPr>
            <a:r>
              <a:t>Metadata about each section - mainly used by tools/debuggers, not strictly needed to RUN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02352"/>
            <a:ext cx="3657600" cy="777240"/>
          </a:xfrm>
          <a:prstGeom prst="roundRect">
            <a:avLst/>
          </a:prstGeom>
          <a:solidFill>
            <a:srgbClr val="E8DAE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300" b="1" i="0">
                <a:solidFill>
                  <a:srgbClr val="212121"/>
                </a:solidFill>
              </a:defRPr>
            </a:pPr>
            <a:r>
              <a:t>.dynamic / .dynsym / .dynstr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5148072"/>
            <a:ext cx="7406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12121"/>
                </a:solidFill>
              </a:defRPr>
            </a:pPr>
            <a:r>
              <a:t>Dynamic linking info: needed shared libraries, exported/imported symbol names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LLD Linker &amp; OS Loader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Calibri"/>
              </a:defRPr>
            </a:pPr>
            <a:r>
              <a:t>Static (.a / .lib) vs. Dynamic (.so / .dll) Linking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71600"/>
          <a:ext cx="117043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572000"/>
                <a:gridCol w="4754880"/>
              </a:tblGrid>
              <a:tr h="5181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Static Linking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Dynamic Linking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Library file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.a (Linux) / .lib (Windows, static)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.so (Linux) / .dll (Windows)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When code is copied in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At LINK time - code becomes part of your exe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NOT copied - loaded separately at RUN time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Executable size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Larger (contains everything)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Smaller (library loaded separately)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Updating the library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Must re-link your program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Just replace the .so/.dll - no re-link needed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Symbol resolution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Fully done by the LINKER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Partly deferred to the LOADER / dynamic linker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475488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95959"/>
                </a:solidFill>
              </a:defRPr>
            </a:pPr>
            <a:r>
              <a:t>A static archive (.a/.lib) is just a ZIP-like bundle of many .o files - LLD extracts and links in only the members it actually needs.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394960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95959"/>
                </a:solidFill>
              </a:defRPr>
            </a:pPr>
            <a:r>
              <a:t>A shared library (.so/.dll) is itself a mini executable with its own symbol table - the linker only records the DEPENDENCY; actual code loading happens later.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LLD Linker &amp; OS Loader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Calibri"/>
              </a:defRPr>
            </a:pPr>
            <a:r>
              <a:t>The Role of .lib Files on Windows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95959"/>
                </a:solidFill>
              </a:defRPr>
            </a:pPr>
            <a:r>
              <a:t>On Windows, ".lib" can mean TWO different things - this confuses many beginners: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5212080" cy="1828800"/>
          </a:xfrm>
          <a:prstGeom prst="roundRect">
            <a:avLst/>
          </a:prstGeom>
          <a:solidFill>
            <a:srgbClr val="DAE3F3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Static Library .lib</a:t>
            </a:r>
          </a:p>
          <a:p>
            <a:pPr algn="ctr">
              <a:defRPr sz="1400" b="1" i="0">
                <a:solidFill>
                  <a:srgbClr val="212121"/>
                </a:solidFill>
              </a:defRPr>
            </a:pPr>
          </a:p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Contains actual compiled</a:t>
            </a:r>
          </a:p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code (.obj files bundled</a:t>
            </a:r>
          </a:p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together), just like a</a:t>
            </a:r>
          </a:p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Linux .a file.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212080" cy="182880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Import Library .lib</a:t>
            </a:r>
          </a:p>
          <a:p>
            <a:pPr algn="ctr">
              <a:defRPr sz="1400" b="1" i="0">
                <a:solidFill>
                  <a:srgbClr val="212121"/>
                </a:solidFill>
              </a:defRPr>
            </a:pPr>
          </a:p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Contains NO real code!</a:t>
            </a:r>
          </a:p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Just stub entries that</a:t>
            </a:r>
          </a:p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tell the linker "this</a:t>
            </a:r>
          </a:p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symbol will come from</a:t>
            </a:r>
          </a:p>
          <a:p>
            <a:pPr algn="ctr">
              <a:defRPr sz="1400" b="1" i="0">
                <a:solidFill>
                  <a:srgbClr val="212121"/>
                </a:solidFill>
              </a:defRPr>
            </a:pPr>
            <a:r>
              <a:t>some.dll at runtime."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49039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When you link against a DLL on Windows, you link against its IMPORT LIBRARY (a .lib file), not the .dll directly.</a:t>
            </a:r>
          </a:p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The import library tells LLD/lld-link: "function Foo is exported by Foo.dll - record it as a DLL import."</a:t>
            </a:r>
          </a:p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This creates an entry in your executable's IMPORT TABLE, which the Windows Loader reads to find and load Foo.dll at program start.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77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595959"/>
                </a:solidFill>
              </a:defRPr>
            </a:pPr>
            <a:r>
              <a:t>lld/COFF handles this in Driver.cpp - it detects .lib files, reads their import descriptors, and links them like external symbol declarations.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LLD Linker &amp; OS Loader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Calibri"/>
              </a:defRPr>
            </a:pPr>
            <a:r>
              <a:t>The Role of .dll Files (Dynamic-Link Libraries)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12121"/>
                </a:solidFill>
              </a:defRPr>
            </a:pPr>
            <a:r>
              <a:t>●  A .dll is a PE (Portable Executable) file, just like a .exe, but meant to be loaded BY other programs.</a:t>
            </a:r>
          </a:p>
          <a:p>
            <a:pPr>
              <a:spcAft>
                <a:spcPts val="700"/>
              </a:spcAft>
              <a:defRPr sz="1600" b="0">
                <a:solidFill>
                  <a:srgbClr val="212121"/>
                </a:solidFill>
              </a:defRPr>
            </a:pPr>
            <a:r>
              <a:t>●  It has an EXPORT TABLE: a list of functions/data it makes available to others (with names and addresses).</a:t>
            </a:r>
          </a:p>
          <a:p>
            <a:pPr>
              <a:spcAft>
                <a:spcPts val="700"/>
              </a:spcAft>
              <a:defRPr sz="1600" b="0">
                <a:solidFill>
                  <a:srgbClr val="212121"/>
                </a:solidFill>
              </a:defRPr>
            </a:pPr>
            <a:r>
              <a:t>●  The .lib import library (previous slide) is essentially a small index INTO this export table.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383280"/>
          <a:ext cx="113385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017520"/>
                <a:gridCol w="5394960"/>
              </a:tblGrid>
              <a:tr h="4114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Table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Found In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Export Table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.dll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Lists names/addresses of functions the DLL makes available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Import Table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.exe / .dll (consumer)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Lists which DLLs and which functions THIS file needs at load time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IAT (Import Address Table)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.exe / .dll (consumer)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Slots the loader fills in with REAL addresses once DLL is loaded - like the GOT in ELF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2120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1">
                <a:solidFill>
                  <a:srgbClr val="1F4E79"/>
                </a:solidFill>
              </a:defRPr>
            </a:pPr>
            <a:r>
              <a:t>This IAT is conceptually IDENTICAL to the ELF GOT - both are "fill in the blank" tables that the loader/dynamic-linker completes once the library's real address is known.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LLD Linker &amp; OS Loader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Calibri"/>
              </a:defRPr>
            </a:pPr>
            <a:r>
              <a:t>How the OS Loader Loads an Executable Into Memory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" y="1417320"/>
            <a:ext cx="2286000" cy="1645920"/>
          </a:xfrm>
          <a:prstGeom prst="roundRect">
            <a:avLst/>
          </a:prstGeom>
          <a:solidFill>
            <a:srgbClr val="DAE3F3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100" b="1" i="0">
                <a:solidFill>
                  <a:srgbClr val="212121"/>
                </a:solidFill>
              </a:defRPr>
            </a:pPr>
            <a:r>
              <a:t>1</a:t>
            </a:r>
          </a:p>
          <a:p>
            <a:pPr algn="ctr">
              <a:defRPr sz="1100" b="1" i="0">
                <a:solidFill>
                  <a:srgbClr val="212121"/>
                </a:solidFill>
              </a:defRPr>
            </a:pPr>
            <a:r>
              <a:t>Open &amp; Parse Header</a:t>
            </a:r>
          </a:p>
          <a:p>
            <a:pPr algn="ctr">
              <a:defRPr sz="1100" b="1" i="0">
                <a:solidFill>
                  <a:srgbClr val="212121"/>
                </a:solidFill>
              </a:defRPr>
            </a:pPr>
            <a:r>
              <a:t>Read ELF/PE header:</a:t>
            </a:r>
          </a:p>
          <a:p>
            <a:pPr algn="ctr">
              <a:defRPr sz="1100" b="1" i="0">
                <a:solidFill>
                  <a:srgbClr val="212121"/>
                </a:solidFill>
              </a:defRPr>
            </a:pPr>
            <a:r>
              <a:t>entry point, arch, segments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14600" y="2148840"/>
            <a:ext cx="182880" cy="182880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697480" y="1417320"/>
            <a:ext cx="2286000" cy="1645920"/>
          </a:xfrm>
          <a:prstGeom prst="roundRect">
            <a:avLst/>
          </a:prstGeom>
          <a:solidFill>
            <a:srgbClr val="E8DAE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100" b="1" i="0">
                <a:solidFill>
                  <a:srgbClr val="212121"/>
                </a:solidFill>
              </a:defRPr>
            </a:pPr>
            <a:r>
              <a:t>2</a:t>
            </a:r>
          </a:p>
          <a:p>
            <a:pPr algn="ctr">
              <a:defRPr sz="1100" b="1" i="0">
                <a:solidFill>
                  <a:srgbClr val="212121"/>
                </a:solidFill>
              </a:defRPr>
            </a:pPr>
            <a:r>
              <a:t>Map Segments</a:t>
            </a:r>
          </a:p>
          <a:p>
            <a:pPr algn="ctr">
              <a:defRPr sz="1100" b="1" i="0">
                <a:solidFill>
                  <a:srgbClr val="212121"/>
                </a:solidFill>
              </a:defRPr>
            </a:pPr>
            <a:r>
              <a:t>mmap() each PT_LOAD segment</a:t>
            </a:r>
          </a:p>
          <a:p>
            <a:pPr algn="ctr">
              <a:defRPr sz="1100" b="1" i="0">
                <a:solidFill>
                  <a:srgbClr val="212121"/>
                </a:solidFill>
              </a:defRPr>
            </a:pPr>
            <a:r>
              <a:t>at its virtual address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983480" y="2148840"/>
            <a:ext cx="182880" cy="182880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66360" y="1417320"/>
            <a:ext cx="2286000" cy="164592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100" b="1" i="0">
                <a:solidFill>
                  <a:srgbClr val="212121"/>
                </a:solidFill>
              </a:defRPr>
            </a:pPr>
            <a:r>
              <a:t>3</a:t>
            </a:r>
          </a:p>
          <a:p>
            <a:pPr algn="ctr">
              <a:defRPr sz="1100" b="1" i="0">
                <a:solidFill>
                  <a:srgbClr val="212121"/>
                </a:solidFill>
              </a:defRPr>
            </a:pPr>
            <a:r>
              <a:t>Set Permissions</a:t>
            </a:r>
          </a:p>
          <a:p>
            <a:pPr algn="ctr">
              <a:defRPr sz="1100" b="1" i="0">
                <a:solidFill>
                  <a:srgbClr val="212121"/>
                </a:solidFill>
              </a:defRPr>
            </a:pPr>
            <a:r>
              <a:t>Mark .text as R+X,</a:t>
            </a:r>
          </a:p>
          <a:p>
            <a:pPr algn="ctr">
              <a:defRPr sz="1100" b="1" i="0">
                <a:solidFill>
                  <a:srgbClr val="212121"/>
                </a:solidFill>
              </a:defRPr>
            </a:pPr>
            <a:r>
              <a:t>.data/.bss as R+W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452360" y="2148840"/>
            <a:ext cx="182880" cy="182880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35240" y="1417320"/>
            <a:ext cx="2286000" cy="1645920"/>
          </a:xfrm>
          <a:prstGeom prst="roundRect">
            <a:avLst/>
          </a:prstGeom>
          <a:solidFill>
            <a:srgbClr val="D5F0E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100" b="1" i="0">
                <a:solidFill>
                  <a:srgbClr val="212121"/>
                </a:solidFill>
              </a:defRPr>
            </a:pPr>
            <a:r>
              <a:t>4</a:t>
            </a:r>
          </a:p>
          <a:p>
            <a:pPr algn="ctr">
              <a:defRPr sz="1100" b="1" i="0">
                <a:solidFill>
                  <a:srgbClr val="212121"/>
                </a:solidFill>
              </a:defRPr>
            </a:pPr>
            <a:r>
              <a:t>Load Dependencies</a:t>
            </a:r>
          </a:p>
          <a:p>
            <a:pPr algn="ctr">
              <a:defRPr sz="1100" b="1" i="0">
                <a:solidFill>
                  <a:srgbClr val="212121"/>
                </a:solidFill>
              </a:defRPr>
            </a:pPr>
            <a:r>
              <a:t>Find &amp; map every needed</a:t>
            </a:r>
          </a:p>
          <a:p>
            <a:pPr algn="ctr">
              <a:defRPr sz="1100" b="1" i="0">
                <a:solidFill>
                  <a:srgbClr val="212121"/>
                </a:solidFill>
              </a:defRPr>
            </a:pPr>
            <a:r>
              <a:t>.so / .dll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921240" y="2148840"/>
            <a:ext cx="182880" cy="182880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104120" y="1417320"/>
            <a:ext cx="2286000" cy="164592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100" b="1" i="0">
                <a:solidFill>
                  <a:srgbClr val="212121"/>
                </a:solidFill>
              </a:defRPr>
            </a:pPr>
            <a:r>
              <a:t>5</a:t>
            </a:r>
          </a:p>
          <a:p>
            <a:pPr algn="ctr">
              <a:defRPr sz="1100" b="1" i="0">
                <a:solidFill>
                  <a:srgbClr val="212121"/>
                </a:solidFill>
              </a:defRPr>
            </a:pPr>
            <a:r>
              <a:t>Resolve &amp; Jump</a:t>
            </a:r>
          </a:p>
          <a:p>
            <a:pPr algn="ctr">
              <a:defRPr sz="1100" b="1" i="0">
                <a:solidFill>
                  <a:srgbClr val="212121"/>
                </a:solidFill>
              </a:defRPr>
            </a:pPr>
            <a:r>
              <a:t>Fill GOT/IAT entries,</a:t>
            </a:r>
          </a:p>
          <a:p>
            <a:pPr algn="ctr">
              <a:defRPr sz="1100" b="1" i="0">
                <a:solidFill>
                  <a:srgbClr val="212121"/>
                </a:solidFill>
              </a:defRPr>
            </a:pPr>
            <a:r>
              <a:t>jump to entry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383280"/>
            <a:ext cx="11338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On Linux: the kernel's execve() reads the ELF header, then hands off to the dynamic linker/loader (ld-linux.so) if the binary is dynamically linked.</a:t>
            </a:r>
          </a:p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On Windows: the OS loader (ntdll.dll internals) parses the PE header, maps sections, and walks the Import Table to load each required DLL.</a:t>
            </a:r>
          </a:p>
          <a:p>
            <a:pPr>
              <a:spcAft>
                <a:spcPts val="700"/>
              </a:spcAft>
              <a:defRPr sz="1500" b="0">
                <a:solidFill>
                  <a:srgbClr val="212121"/>
                </a:solidFill>
              </a:defRPr>
            </a:pPr>
            <a:r>
              <a:t>●  Only PT_LOAD (ELF) / section table (PE) segments are actually mapped into memory - other data (like symbol tables) may be skipped if not needed to run.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LLD Linker &amp; OS Loader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Calibri"/>
              </a:defRPr>
            </a:pPr>
            <a:r>
              <a:t>Dynamic Linker at Runtime: Lazy Binding via GOT/PLT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595959"/>
                </a:solidFill>
              </a:defRPr>
            </a:pPr>
            <a:r>
              <a:t>Many systems delay resolving a function's real address until the FIRST time it's actually called - this is 'lazy binding'.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212121"/>
                </a:solidFill>
              </a:defRPr>
            </a:pPr>
            <a:r>
              <a:t>●  1. Program calls printf() -&gt; jumps to printf's PLT stub (not the real function yet).</a:t>
            </a:r>
          </a:p>
          <a:p>
            <a:pPr>
              <a:spcAft>
                <a:spcPts val="700"/>
              </a:spcAft>
              <a:defRPr sz="1600" b="0">
                <a:solidFill>
                  <a:srgbClr val="212121"/>
                </a:solidFill>
              </a:defRPr>
            </a:pPr>
            <a:r>
              <a:t>●  2. PLT stub jumps through its GOT entry, which currently points BACK into the PLT/dynamic linker's resolver code.</a:t>
            </a:r>
          </a:p>
          <a:p>
            <a:pPr>
              <a:spcAft>
                <a:spcPts val="700"/>
              </a:spcAft>
              <a:defRPr sz="1600" b="0">
                <a:solidFill>
                  <a:srgbClr val="212121"/>
                </a:solidFill>
              </a:defRPr>
            </a:pPr>
            <a:r>
              <a:t>●  3. Dynamic linker looks up 'printf' in libc.so's export table, finds its real address.</a:t>
            </a:r>
          </a:p>
          <a:p>
            <a:pPr>
              <a:spcAft>
                <a:spcPts val="700"/>
              </a:spcAft>
              <a:defRPr sz="1600" b="0">
                <a:solidFill>
                  <a:srgbClr val="212121"/>
                </a:solidFill>
              </a:defRPr>
            </a:pPr>
            <a:r>
              <a:t>●  4. Dynamic linker OVERWRITES the GOT entry with printf's real address.</a:t>
            </a:r>
          </a:p>
          <a:p>
            <a:pPr>
              <a:spcAft>
                <a:spcPts val="700"/>
              </a:spcAft>
              <a:defRPr sz="1600" b="0">
                <a:solidFill>
                  <a:srgbClr val="212121"/>
                </a:solidFill>
              </a:defRPr>
            </a:pPr>
            <a:r>
              <a:t>●  5. PLT stub jumps to the real printf(). Every SUBSequent call goes straight there - no more resolving needed!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5029200"/>
            <a:ext cx="9235440" cy="82296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600" b="1" i="0">
                <a:solidFill>
                  <a:srgbClr val="212121"/>
                </a:solidFill>
              </a:defRPr>
            </a:pPr>
            <a:r>
              <a:t>Benefit: programs start faster because unused functions are NEVER resolved at 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LLD Linker &amp; OS Loader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Calibri"/>
              </a:defRPr>
            </a:pPr>
            <a:r>
              <a:t>End-to-End Summary: From Source Code to Running Process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2651760" cy="1005840"/>
          </a:xfrm>
          <a:prstGeom prst="roundRect">
            <a:avLst/>
          </a:prstGeom>
          <a:solidFill>
            <a:srgbClr val="DAE3F3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200" b="1" i="0">
                <a:solidFill>
                  <a:srgbClr val="212121"/>
                </a:solidFill>
              </a:defRPr>
            </a:pPr>
            <a:r>
              <a:t>.o files</a:t>
            </a:r>
          </a:p>
          <a:p>
            <a:pPr algn="ctr">
              <a:defRPr sz="1200" b="1" i="0">
                <a:solidFill>
                  <a:srgbClr val="212121"/>
                </a:solidFill>
              </a:defRPr>
            </a:pPr>
            <a:r>
              <a:t>+ .a/.lib</a:t>
            </a:r>
          </a:p>
          <a:p>
            <a:pPr algn="ctr">
              <a:defRPr sz="1200" b="1" i="0">
                <a:solidFill>
                  <a:srgbClr val="212121"/>
                </a:solidFill>
              </a:defRPr>
            </a:pPr>
            <a:r>
              <a:t>+ .so/.dll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017520" y="1764792"/>
            <a:ext cx="228600" cy="2194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46120" y="1371600"/>
            <a:ext cx="2651760" cy="1005840"/>
          </a:xfrm>
          <a:prstGeom prst="roundRect">
            <a:avLst/>
          </a:prstGeom>
          <a:solidFill>
            <a:srgbClr val="E8DAE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200" b="1" i="0">
                <a:solidFill>
                  <a:srgbClr val="212121"/>
                </a:solidFill>
              </a:defRPr>
            </a:pPr>
            <a:r>
              <a:t>LLD:</a:t>
            </a:r>
          </a:p>
          <a:p>
            <a:pPr algn="ctr">
              <a:defRPr sz="1200" b="1" i="0">
                <a:solidFill>
                  <a:srgbClr val="212121"/>
                </a:solidFill>
              </a:defRPr>
            </a:pPr>
            <a:r>
              <a:t>merge symbol</a:t>
            </a:r>
          </a:p>
          <a:p>
            <a:pPr algn="ctr">
              <a:defRPr sz="1200" b="1" i="0">
                <a:solidFill>
                  <a:srgbClr val="212121"/>
                </a:solidFill>
              </a:defRPr>
            </a:pPr>
            <a:r>
              <a:t>tables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897880" y="1764792"/>
            <a:ext cx="228600" cy="2194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26480" y="1371600"/>
            <a:ext cx="2651760" cy="100584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200" b="1" i="0">
                <a:solidFill>
                  <a:srgbClr val="212121"/>
                </a:solidFill>
              </a:defRPr>
            </a:pPr>
            <a:r>
              <a:t>LLD:</a:t>
            </a:r>
          </a:p>
          <a:p>
            <a:pPr algn="ctr">
              <a:defRPr sz="1200" b="1" i="0">
                <a:solidFill>
                  <a:srgbClr val="212121"/>
                </a:solidFill>
              </a:defRPr>
            </a:pPr>
            <a:r>
              <a:t>scan relocations</a:t>
            </a:r>
          </a:p>
          <a:p>
            <a:pPr algn="ctr">
              <a:defRPr sz="1200" b="1" i="0">
                <a:solidFill>
                  <a:srgbClr val="212121"/>
                </a:solidFill>
              </a:defRPr>
            </a:pPr>
            <a:r>
              <a:t>(GOT/PLT)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743200"/>
            <a:ext cx="2651760" cy="100584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200" b="1" i="0">
                <a:solidFill>
                  <a:srgbClr val="212121"/>
                </a:solidFill>
              </a:defRPr>
            </a:pPr>
            <a:r>
              <a:t>LLD:</a:t>
            </a:r>
          </a:p>
          <a:p>
            <a:pPr algn="ctr">
              <a:defRPr sz="1200" b="1" i="0">
                <a:solidFill>
                  <a:srgbClr val="212121"/>
                </a:solidFill>
              </a:defRPr>
            </a:pPr>
            <a:r>
              <a:t>assign addresses</a:t>
            </a:r>
          </a:p>
          <a:p>
            <a:pPr algn="ctr">
              <a:defRPr sz="1200" b="1" i="0">
                <a:solidFill>
                  <a:srgbClr val="212121"/>
                </a:solidFill>
              </a:defRPr>
            </a:pPr>
            <a:r>
              <a:t>(Writer.cpp)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17520" y="3136392"/>
            <a:ext cx="228600" cy="2194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46120" y="2743200"/>
            <a:ext cx="2651760" cy="1005840"/>
          </a:xfrm>
          <a:prstGeom prst="roundRect">
            <a:avLst/>
          </a:prstGeom>
          <a:solidFill>
            <a:srgbClr val="FCE4D6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200" b="1" i="0">
                <a:solidFill>
                  <a:srgbClr val="212121"/>
                </a:solidFill>
              </a:defRPr>
            </a:pPr>
            <a:r>
              <a:t>LLD:</a:t>
            </a:r>
          </a:p>
          <a:p>
            <a:pPr algn="ctr">
              <a:defRPr sz="1200" b="1" i="0">
                <a:solidFill>
                  <a:srgbClr val="212121"/>
                </a:solidFill>
              </a:defRPr>
            </a:pPr>
            <a:r>
              <a:t>apply relocations</a:t>
            </a:r>
          </a:p>
          <a:p>
            <a:pPr algn="ctr">
              <a:defRPr sz="1200" b="1" i="0">
                <a:solidFill>
                  <a:srgbClr val="212121"/>
                </a:solidFill>
              </a:defRPr>
            </a:pPr>
            <a:r>
              <a:t>(patch bytes)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97880" y="3136392"/>
            <a:ext cx="228600" cy="2194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80" y="2743200"/>
            <a:ext cx="2651760" cy="1005840"/>
          </a:xfrm>
          <a:prstGeom prst="roundRect">
            <a:avLst/>
          </a:prstGeom>
          <a:solidFill>
            <a:srgbClr val="D5F0E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200" b="1" i="0">
                <a:solidFill>
                  <a:srgbClr val="212121"/>
                </a:solidFill>
              </a:defRPr>
            </a:pPr>
            <a:r>
              <a:t>Executable</a:t>
            </a:r>
          </a:p>
          <a:p>
            <a:pPr algn="ctr">
              <a:defRPr sz="1200" b="1" i="0">
                <a:solidFill>
                  <a:srgbClr val="212121"/>
                </a:solidFill>
              </a:defRPr>
            </a:pPr>
            <a:r>
              <a:t>/ .so / .dll</a:t>
            </a:r>
          </a:p>
          <a:p>
            <a:pPr algn="ctr">
              <a:defRPr sz="1200" b="1" i="0">
                <a:solidFill>
                  <a:srgbClr val="212121"/>
                </a:solidFill>
              </a:defRPr>
            </a:pPr>
            <a:r>
              <a:t>(on disk)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463040" y="3886200"/>
            <a:ext cx="365760" cy="365760"/>
          </a:xfrm>
          <a:prstGeom prst="down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5760" y="4297680"/>
            <a:ext cx="2651760" cy="1005840"/>
          </a:xfrm>
          <a:prstGeom prst="roundRect">
            <a:avLst/>
          </a:prstGeom>
          <a:solidFill>
            <a:srgbClr val="BDD7EE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200" b="1" i="0">
                <a:solidFill>
                  <a:srgbClr val="212121"/>
                </a:solidFill>
              </a:defRPr>
            </a:pPr>
            <a:r>
              <a:t>OS Loader:</a:t>
            </a:r>
          </a:p>
          <a:p>
            <a:pPr algn="ctr">
              <a:defRPr sz="1200" b="1" i="0">
                <a:solidFill>
                  <a:srgbClr val="212121"/>
                </a:solidFill>
              </a:defRPr>
            </a:pPr>
            <a:r>
              <a:t>map segments</a:t>
            </a:r>
          </a:p>
          <a:p>
            <a:pPr algn="ctr">
              <a:defRPr sz="1200" b="1" i="0">
                <a:solidFill>
                  <a:srgbClr val="212121"/>
                </a:solidFill>
              </a:defRPr>
            </a:pPr>
            <a:r>
              <a:t>into memory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017520" y="4690872"/>
            <a:ext cx="228600" cy="2194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46120" y="4297680"/>
            <a:ext cx="2651760" cy="1005840"/>
          </a:xfrm>
          <a:prstGeom prst="roundRect">
            <a:avLst/>
          </a:prstGeom>
          <a:solidFill>
            <a:srgbClr val="E8DAEF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200" b="1" i="0">
                <a:solidFill>
                  <a:srgbClr val="212121"/>
                </a:solidFill>
              </a:defRPr>
            </a:pPr>
            <a:r>
              <a:t>Dynamic Linker:</a:t>
            </a:r>
          </a:p>
          <a:p>
            <a:pPr algn="ctr">
              <a:defRPr sz="1200" b="1" i="0">
                <a:solidFill>
                  <a:srgbClr val="212121"/>
                </a:solidFill>
              </a:defRPr>
            </a:pPr>
            <a:r>
              <a:t>load .so/.dll,</a:t>
            </a:r>
          </a:p>
          <a:p>
            <a:pPr algn="ctr">
              <a:defRPr sz="1200" b="1" i="0">
                <a:solidFill>
                  <a:srgbClr val="212121"/>
                </a:solidFill>
              </a:defRPr>
            </a:pPr>
            <a:r>
              <a:t>fill GOT/IAT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897880" y="4690872"/>
            <a:ext cx="228600" cy="219456"/>
          </a:xfrm>
          <a:prstGeom prst="right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26480" y="4297680"/>
            <a:ext cx="2651760" cy="1005840"/>
          </a:xfrm>
          <a:prstGeom prst="roundRect">
            <a:avLst/>
          </a:prstGeom>
          <a:solidFill>
            <a:srgbClr val="E2EFDA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1200" b="1" i="0">
                <a:solidFill>
                  <a:srgbClr val="212121"/>
                </a:solidFill>
              </a:defRPr>
            </a:pPr>
            <a:r>
              <a:t>Running</a:t>
            </a:r>
          </a:p>
          <a:p>
            <a:pPr algn="ctr">
              <a:defRPr sz="1200" b="1" i="0">
                <a:solidFill>
                  <a:srgbClr val="212121"/>
                </a:solidFill>
              </a:defRPr>
            </a:pPr>
            <a:r>
              <a:t>Process</a:t>
            </a:r>
          </a:p>
          <a:p>
            <a:pPr algn="ctr">
              <a:defRPr sz="1200" b="1" i="0">
                <a:solidFill>
                  <a:srgbClr val="212121"/>
                </a:solidFill>
              </a:defRPr>
            </a:pPr>
            <a:r>
              <a:t>(program executes)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577840"/>
            <a:ext cx="11338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1">
                <a:solidFill>
                  <a:srgbClr val="1F4E79"/>
                </a:solidFill>
              </a:defRPr>
            </a:pPr>
            <a:r>
              <a:t>Linker = compile-time matchmaker between definitions and uses.   Loader = runtime mover that places bytes into memory and finishes any remaining connections.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LLD Linker &amp; OS Loader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Calibri"/>
              </a:defRPr>
            </a:pPr>
            <a:r>
              <a:t>Key LLD Source Files (Quick Reference)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17043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8412480"/>
              </a:tblGrid>
              <a:tr h="5689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File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lld/ELF/Driver.cpp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Entry point (linkerMain, link&lt;ELFT&gt;) - orchestrates the whole link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lld/ELF/InputFiles.cpp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Parses .o / .a / .so files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lld/ELF/Symbols.h / .cpp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Symbol class hierarchy: Defined, Undefined, Shared, Lazy, Common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lld/ELF/SymbolTable.cpp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Global symbol table - name -&gt; Symbol* map, resolves duplicates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lld/ELF/Relocations.cpp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scanRelocations() - decides GOT/PLT/copy-reloc needs per symbol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lld/ELF/SyntheticSections.cpp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Builds .got, .plt, .dynamic, .dynsym and other generated sections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lld/ELF/Writer.cpp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writeResult() - assigns addresses, applies relocations, writes the file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lld/COFF/*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Windows PE/COFF linker - handles .lib import libraries and .dll exports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LLD Linker &amp; OS Loader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6017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Calibri"/>
              </a:defRPr>
            </a:pPr>
            <a:r>
              <a:t>Quick Recap / Cheat Sheet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32688"/>
            <a:ext cx="2011680" cy="508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280160"/>
          <a:ext cx="117043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8412480"/>
              </a:tblGrid>
              <a:tr h="5689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Term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t>One-line definition</a:t>
                      </a:r>
                    </a:p>
                  </a:txBody>
                  <a:tcPr marL="76200" marR="76200" marT="38100" marB="38100" anchor="ctr">
                    <a:solidFill>
                      <a:srgbClr val="1F4E79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Symbol Table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A list of names (functions/variables) each file defines or needs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Relocation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An instruction saying 'patch this address once you know it'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GOT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Table of real addresses, filled in by the dynamic linker at load time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PLT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Small stub code that jumps through the GOT - enables lazy binding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Static Library (.a/.lib)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Bundle of .o files - code gets COPIED into your executable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Import Library (.lib, Windows)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No real code - just tells the linker 'this comes from a DLL'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Shared Library (.so/.dll)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Separate file loaded at runtime; code is NOT copied into your exe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Loader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121"/>
                          </a:solidFill>
                        </a:defRPr>
                      </a:pPr>
                      <a:r>
                        <a:t>OS component that maps the executable/library into memory and starts it</a:t>
                      </a:r>
                    </a:p>
                  </a:txBody>
                  <a:tcPr marL="76200" marR="76200" marT="38100" marB="381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95959"/>
                </a:solidFill>
              </a:defRPr>
            </a:pPr>
            <a:r>
              <a:t>LLD Linker &amp; OS Loader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 i="0">
                <a:solidFill>
                  <a:srgbClr val="595959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0" y="2560320"/>
            <a:ext cx="5760720" cy="1097280"/>
          </a:xfrm>
          <a:prstGeom prst="roundRect">
            <a:avLst/>
          </a:prstGeom>
          <a:solidFill>
            <a:srgbClr val="1F4E79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defRPr sz="4000" b="1" i="0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9319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595959"/>
                </a:solidFill>
              </a:defRPr>
            </a:pPr>
            <a:r>
              <a:t>Explore lld/ELF/ and lld/COFF/ in the LLVM source tree to see the real linker code in 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